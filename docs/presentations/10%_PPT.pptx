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79" r:id="rId5"/>
    <p:sldId id="259" r:id="rId6"/>
    <p:sldId id="260" r:id="rId7"/>
    <p:sldId id="280" r:id="rId8"/>
    <p:sldId id="281" r:id="rId9"/>
    <p:sldId id="282" r:id="rId10"/>
    <p:sldId id="271" r:id="rId11"/>
    <p:sldId id="261" r:id="rId12"/>
    <p:sldId id="283" r:id="rId13"/>
    <p:sldId id="284" r:id="rId14"/>
    <p:sldId id="272" r:id="rId15"/>
    <p:sldId id="275" r:id="rId16"/>
    <p:sldId id="285" r:id="rId17"/>
    <p:sldId id="276" r:id="rId18"/>
    <p:sldId id="278" r:id="rId19"/>
    <p:sldId id="286" r:id="rId20"/>
    <p:sldId id="263" r:id="rId21"/>
    <p:sldId id="264" r:id="rId22"/>
    <p:sldId id="265" r:id="rId23"/>
    <p:sldId id="266" r:id="rId24"/>
    <p:sldId id="267" r:id="rId25"/>
    <p:sldId id="268" r:id="rId26"/>
    <p:sldId id="270" r:id="rId27"/>
    <p:sldId id="269"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64" autoAdjust="0"/>
    <p:restoredTop sz="94660"/>
  </p:normalViewPr>
  <p:slideViewPr>
    <p:cSldViewPr>
      <p:cViewPr>
        <p:scale>
          <a:sx n="50" d="100"/>
          <a:sy n="50" d="100"/>
        </p:scale>
        <p:origin x="1880" y="2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B86B37-9E7C-4699-A89E-72EE4B291650}" type="datetimeFigureOut">
              <a:rPr lang="en-US" smtClean="0"/>
              <a:pPr/>
              <a:t>5/12/2026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EFE787-E5F2-40C5-9D43-E7EAF8E51FDF}" type="slidenum">
              <a:rPr lang="en-US" smtClean="0"/>
              <a:pPr/>
              <a:t>‹#›</a:t>
            </a:fld>
            <a:endParaRPr lang="en-US"/>
          </a:p>
        </p:txBody>
      </p:sp>
    </p:spTree>
    <p:extLst>
      <p:ext uri="{BB962C8B-B14F-4D97-AF65-F5344CB8AC3E}">
        <p14:creationId xmlns:p14="http://schemas.microsoft.com/office/powerpoint/2010/main" val="1227485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EFE787-E5F2-40C5-9D43-E7EAF8E51FDF}" type="slidenum">
              <a:rPr lang="en-US" smtClean="0"/>
              <a:pPr/>
              <a:t>6</a:t>
            </a:fld>
            <a:endParaRPr lang="en-US"/>
          </a:p>
        </p:txBody>
      </p:sp>
    </p:spTree>
    <p:extLst>
      <p:ext uri="{BB962C8B-B14F-4D97-AF65-F5344CB8AC3E}">
        <p14:creationId xmlns:p14="http://schemas.microsoft.com/office/powerpoint/2010/main" val="1730351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09658-26E4-317F-2DFD-247C4D0B8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E8ED0-73BD-B3FE-5AD4-EB634E8F00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21626-5E1D-5F27-9F04-71CE1AB1BF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A992B2-413D-CA78-FC66-1919A396742C}"/>
              </a:ext>
            </a:extLst>
          </p:cNvPr>
          <p:cNvSpPr>
            <a:spLocks noGrp="1"/>
          </p:cNvSpPr>
          <p:nvPr>
            <p:ph type="sldNum" sz="quarter" idx="10"/>
          </p:nvPr>
        </p:nvSpPr>
        <p:spPr/>
        <p:txBody>
          <a:bodyPr/>
          <a:lstStyle/>
          <a:p>
            <a:fld id="{75EFE787-E5F2-40C5-9D43-E7EAF8E51FDF}" type="slidenum">
              <a:rPr lang="en-US" smtClean="0"/>
              <a:pPr/>
              <a:t>7</a:t>
            </a:fld>
            <a:endParaRPr lang="en-US"/>
          </a:p>
        </p:txBody>
      </p:sp>
    </p:spTree>
    <p:extLst>
      <p:ext uri="{BB962C8B-B14F-4D97-AF65-F5344CB8AC3E}">
        <p14:creationId xmlns:p14="http://schemas.microsoft.com/office/powerpoint/2010/main" val="3968823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BFF56-D7AE-0709-C990-A85E05295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37402F-0555-570A-836B-1D7C6F948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593BBA-FAA5-CBC9-5FFD-E15D6A285A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9E552F-D6CF-D699-76A6-8D56D0357717}"/>
              </a:ext>
            </a:extLst>
          </p:cNvPr>
          <p:cNvSpPr>
            <a:spLocks noGrp="1"/>
          </p:cNvSpPr>
          <p:nvPr>
            <p:ph type="sldNum" sz="quarter" idx="10"/>
          </p:nvPr>
        </p:nvSpPr>
        <p:spPr/>
        <p:txBody>
          <a:bodyPr/>
          <a:lstStyle/>
          <a:p>
            <a:fld id="{75EFE787-E5F2-40C5-9D43-E7EAF8E51FDF}" type="slidenum">
              <a:rPr lang="en-US" smtClean="0"/>
              <a:pPr/>
              <a:t>8</a:t>
            </a:fld>
            <a:endParaRPr lang="en-US"/>
          </a:p>
        </p:txBody>
      </p:sp>
    </p:spTree>
    <p:extLst>
      <p:ext uri="{BB962C8B-B14F-4D97-AF65-F5344CB8AC3E}">
        <p14:creationId xmlns:p14="http://schemas.microsoft.com/office/powerpoint/2010/main" val="7605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68281-1F9D-0753-79EA-FAB7E8436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0008B-48EC-F177-FC7B-1C279A8CC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8A864-8A1E-103E-111F-6DF9207B39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211593-846F-F51D-E8FA-E6165CFCF6D6}"/>
              </a:ext>
            </a:extLst>
          </p:cNvPr>
          <p:cNvSpPr>
            <a:spLocks noGrp="1"/>
          </p:cNvSpPr>
          <p:nvPr>
            <p:ph type="sldNum" sz="quarter" idx="10"/>
          </p:nvPr>
        </p:nvSpPr>
        <p:spPr/>
        <p:txBody>
          <a:bodyPr/>
          <a:lstStyle/>
          <a:p>
            <a:fld id="{75EFE787-E5F2-40C5-9D43-E7EAF8E51FDF}" type="slidenum">
              <a:rPr lang="en-US" smtClean="0"/>
              <a:pPr/>
              <a:t>9</a:t>
            </a:fld>
            <a:endParaRPr lang="en-US"/>
          </a:p>
        </p:txBody>
      </p:sp>
    </p:spTree>
    <p:extLst>
      <p:ext uri="{BB962C8B-B14F-4D97-AF65-F5344CB8AC3E}">
        <p14:creationId xmlns:p14="http://schemas.microsoft.com/office/powerpoint/2010/main" val="1175831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75EFE787-E5F2-40C5-9D43-E7EAF8E51FDF}" type="slidenum">
              <a:rPr lang="en-US" smtClean="0"/>
              <a:pPr/>
              <a:t>11</a:t>
            </a:fld>
            <a:endParaRPr lang="en-US"/>
          </a:p>
        </p:txBody>
      </p:sp>
    </p:spTree>
    <p:extLst>
      <p:ext uri="{BB962C8B-B14F-4D97-AF65-F5344CB8AC3E}">
        <p14:creationId xmlns:p14="http://schemas.microsoft.com/office/powerpoint/2010/main" val="2951405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5BCF0-675F-D59B-F487-2D6C57513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1F084-BFD5-C846-D6E9-306328023C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DD69D8-C6A8-2A45-B23C-2995D7DEF0AB}"/>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A2A02D4B-9866-D63E-1500-E968EAEFC4B2}"/>
              </a:ext>
            </a:extLst>
          </p:cNvPr>
          <p:cNvSpPr>
            <a:spLocks noGrp="1"/>
          </p:cNvSpPr>
          <p:nvPr>
            <p:ph type="sldNum" sz="quarter" idx="5"/>
          </p:nvPr>
        </p:nvSpPr>
        <p:spPr/>
        <p:txBody>
          <a:bodyPr/>
          <a:lstStyle/>
          <a:p>
            <a:fld id="{75EFE787-E5F2-40C5-9D43-E7EAF8E51FDF}" type="slidenum">
              <a:rPr lang="en-US" smtClean="0"/>
              <a:pPr/>
              <a:t>12</a:t>
            </a:fld>
            <a:endParaRPr lang="en-US"/>
          </a:p>
        </p:txBody>
      </p:sp>
    </p:spTree>
    <p:extLst>
      <p:ext uri="{BB962C8B-B14F-4D97-AF65-F5344CB8AC3E}">
        <p14:creationId xmlns:p14="http://schemas.microsoft.com/office/powerpoint/2010/main" val="3131720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7D89F-69BA-45D8-85C1-789124DFB921}" type="datetime1">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F83749-7540-4838-B5FB-EDC40CB84DB0}" type="datetime1">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1A8085-18D1-4091-8AD3-81F140965EFC}" type="datetime1">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CD35F7-97F8-4D2E-B83D-158766068E0A}" type="datetime1">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3EFADE-B1F7-484F-89D9-3E148D53B52B}" type="datetime1">
              <a:rPr lang="en-US" smtClean="0"/>
              <a:pPr/>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9F378E-9541-4F7D-BD6F-302448FBBB81}" type="datetime1">
              <a:rPr lang="en-US" smtClean="0"/>
              <a:pPr/>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26370F-658E-452B-A4D5-DB4240E0AF51}" type="datetime1">
              <a:rPr lang="en-US" smtClean="0"/>
              <a:pPr/>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8E6F0-0C4F-4052-A284-495110A822E2}" type="datetime1">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C22A7-5E39-4CEE-A6B3-52DA5303DD53}" type="datetime1">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41830-9FBF-4C58-837A-230882702FD4}" type="datetime1">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1B8442-52C5-4632-BA82-04F7AD4C9B34}" type="datetime1">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8188C4-8F03-4988-A683-AFCBDCFC6ED7}" type="datetime1">
              <a:rPr lang="en-US" smtClean="0"/>
              <a:pPr/>
              <a:t>5/12/2026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2A8C5E-5ACC-4DAB-B41C-5718F8C58B6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366" y="457200"/>
            <a:ext cx="6650047" cy="2308225"/>
          </a:xfrm>
        </p:spPr>
        <p:txBody>
          <a:bodyPr>
            <a:normAutofit fontScale="90000"/>
          </a:bodyPr>
          <a:lstStyle/>
          <a:p>
            <a:r>
              <a:rPr lang="en-US" b="1" dirty="0">
                <a:latin typeface="Times New Roman" panose="02020603050405020304" pitchFamily="18" charset="0"/>
                <a:ea typeface="Tahoma" panose="020B0604030504040204" pitchFamily="34" charset="0"/>
                <a:cs typeface="Times New Roman" panose="02020603050405020304" pitchFamily="18" charset="0"/>
              </a:rPr>
              <a:t>INTELI-REHAB</a:t>
            </a:r>
            <a:br>
              <a:rPr lang="en-PK" dirty="0">
                <a:latin typeface="Times New Roman" panose="02020603050405020304" pitchFamily="18" charset="0"/>
                <a:ea typeface="Tahoma" panose="020B0604030504040204" pitchFamily="34" charset="0"/>
                <a:cs typeface="Times New Roman" panose="02020603050405020304" pitchFamily="18" charset="0"/>
              </a:rPr>
            </a:br>
            <a:r>
              <a:rPr lang="en-US" b="1" dirty="0">
                <a:latin typeface="Times New Roman" panose="02020603050405020304" pitchFamily="18" charset="0"/>
                <a:ea typeface="Tahoma" panose="020B0604030504040204" pitchFamily="34" charset="0"/>
                <a:cs typeface="Times New Roman" panose="02020603050405020304" pitchFamily="18" charset="0"/>
              </a:rPr>
              <a:t> A Smart Wearable Rehabilitation System</a:t>
            </a:r>
            <a:br>
              <a:rPr lang="en-US" dirty="0"/>
            </a:b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71600" y="3276600"/>
            <a:ext cx="6400800" cy="1752600"/>
          </a:xfrm>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  </a:t>
            </a:r>
            <a:r>
              <a:rPr lang="en-US" dirty="0">
                <a:solidFill>
                  <a:schemeClr val="tx1">
                    <a:lumMod val="65000"/>
                    <a:lumOff val="35000"/>
                  </a:schemeClr>
                </a:solidFill>
                <a:latin typeface="Times New Roman" panose="02020603050405020304" pitchFamily="18" charset="0"/>
                <a:cs typeface="Times New Roman" panose="02020603050405020304" pitchFamily="18" charset="0"/>
              </a:rPr>
              <a:t>Tehreem Zaheer        Sp23-BCS-131</a:t>
            </a: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   Kashmala Zeb          Sp23-BSE-048</a:t>
            </a: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   Ahmed Irshad          Sp23-BSE-045</a:t>
            </a:r>
          </a:p>
          <a:p>
            <a:endParaRPr lang="en-US" dirty="0">
              <a:solidFill>
                <a:schemeClr val="tx1">
                  <a:lumMod val="65000"/>
                  <a:lumOff val="35000"/>
                </a:schemeClr>
              </a:solidFill>
              <a:latin typeface="Times New Roman" panose="02020603050405020304" pitchFamily="18" charset="0"/>
              <a:cs typeface="Times New Roman" panose="02020603050405020304" pitchFamily="18" charset="0"/>
            </a:endParaRP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Supervisor: Dr Ahmad Khan</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a:t>
            </a:fld>
            <a:endParaRPr lang="en-US" dirty="0">
              <a:latin typeface="Times New Roman" panose="02020603050405020304" pitchFamily="18" charset="0"/>
              <a:cs typeface="Times New Roman" panose="02020603050405020304" pitchFamily="18" charset="0"/>
            </a:endParaRPr>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383306" y="5542597"/>
            <a:ext cx="996315" cy="996315"/>
          </a:xfrm>
          <a:prstGeom prst="rect">
            <a:avLst/>
          </a:prstGeom>
          <a:noFill/>
        </p:spPr>
      </p:pic>
      <p:sp>
        <p:nvSpPr>
          <p:cNvPr id="6" name="Subtitle 2"/>
          <p:cNvSpPr txBox="1">
            <a:spLocks/>
          </p:cNvSpPr>
          <p:nvPr/>
        </p:nvSpPr>
        <p:spPr>
          <a:xfrm>
            <a:off x="1383632" y="5542597"/>
            <a:ext cx="6400800" cy="9906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cs typeface="Times New Roman" panose="02020603050405020304" pitchFamily="18" charset="0"/>
              </a:rPr>
              <a:t>Department of Computer</a:t>
            </a:r>
            <a:r>
              <a:rPr kumimoji="0" lang="en-US" sz="2800" b="0" i="0" u="none" strike="noStrike" kern="1200" cap="none" spc="0" normalizeH="0" noProof="0" dirty="0">
                <a:ln>
                  <a:noFill/>
                </a:ln>
                <a:solidFill>
                  <a:schemeClr val="tx1">
                    <a:tint val="75000"/>
                  </a:schemeClr>
                </a:solidFill>
                <a:effectLst/>
                <a:uLnTx/>
                <a:uFillTx/>
                <a:latin typeface="Times New Roman" panose="02020603050405020304" pitchFamily="18" charset="0"/>
                <a:cs typeface="Times New Roman" panose="02020603050405020304" pitchFamily="18" charset="0"/>
              </a:rPr>
              <a:t> Science</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200" baseline="0" dirty="0">
                <a:solidFill>
                  <a:schemeClr val="tx1">
                    <a:tint val="75000"/>
                  </a:schemeClr>
                </a:solidFill>
                <a:latin typeface="Times New Roman" panose="02020603050405020304" pitchFamily="18" charset="0"/>
                <a:cs typeface="Times New Roman" panose="02020603050405020304" pitchFamily="18" charset="0"/>
              </a:rPr>
              <a:t>COMSATS University Islamabad</a:t>
            </a:r>
            <a:r>
              <a:rPr lang="en-US" sz="2200" dirty="0">
                <a:solidFill>
                  <a:schemeClr val="tx1">
                    <a:tint val="75000"/>
                  </a:schemeClr>
                </a:solidFill>
                <a:latin typeface="Times New Roman" panose="02020603050405020304" pitchFamily="18" charset="0"/>
                <a:cs typeface="Times New Roman" panose="02020603050405020304" pitchFamily="18" charset="0"/>
              </a:rPr>
              <a:t>, Abbottabad Campus</a:t>
            </a:r>
            <a:endParaRPr kumimoji="0" lang="en-US" sz="2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Agenda of the Presentation</a:t>
            </a:r>
          </a:p>
        </p:txBody>
      </p:sp>
      <p:sp>
        <p:nvSpPr>
          <p:cNvPr id="3" name="Content Placeholder 2"/>
          <p:cNvSpPr>
            <a:spLocks noGrp="1"/>
          </p:cNvSpPr>
          <p:nvPr>
            <p:ph idx="1"/>
          </p:nvPr>
        </p:nvSpPr>
        <p:spPr/>
        <p:txBody>
          <a:bodyPr>
            <a:noAutofit/>
          </a:bodyPr>
          <a:lstStyle/>
          <a:p>
            <a:pPr>
              <a:lnSpc>
                <a:spcPct val="150000"/>
              </a:lnSpc>
            </a:pPr>
            <a:r>
              <a:rPr lang="en-US" sz="2000" dirty="0">
                <a:latin typeface="Times New Roman" panose="02020603050405020304" pitchFamily="18" charset="0"/>
                <a:cs typeface="Times New Roman" panose="02020603050405020304" pitchFamily="18" charset="0"/>
              </a:rPr>
              <a:t>Motivation</a:t>
            </a:r>
          </a:p>
          <a:p>
            <a:pPr>
              <a:lnSpc>
                <a:spcPct val="150000"/>
              </a:lnSpc>
            </a:pPr>
            <a:r>
              <a:rPr lang="en-US" sz="2000" dirty="0">
                <a:latin typeface="Times New Roman" panose="02020603050405020304" pitchFamily="18" charset="0"/>
                <a:cs typeface="Times New Roman" panose="02020603050405020304" pitchFamily="18" charset="0"/>
              </a:rPr>
              <a:t>Brief Introduction</a:t>
            </a:r>
          </a:p>
          <a:p>
            <a:pPr>
              <a:lnSpc>
                <a:spcPct val="150000"/>
              </a:lnSpc>
            </a:pPr>
            <a:r>
              <a:rPr lang="en-US" sz="2000" dirty="0">
                <a:latin typeface="Times New Roman" panose="02020603050405020304" pitchFamily="18" charset="0"/>
                <a:cs typeface="Times New Roman" panose="02020603050405020304" pitchFamily="18" charset="0"/>
              </a:rPr>
              <a:t>Scope (What to do and What not to do)</a:t>
            </a:r>
          </a:p>
          <a:p>
            <a:pPr>
              <a:lnSpc>
                <a:spcPct val="150000"/>
              </a:lnSpc>
            </a:pPr>
            <a:r>
              <a:rPr lang="en-US" sz="2000" dirty="0">
                <a:latin typeface="Times New Roman" panose="02020603050405020304" pitchFamily="18" charset="0"/>
                <a:cs typeface="Times New Roman" panose="02020603050405020304" pitchFamily="18" charset="0"/>
              </a:rPr>
              <a:t>Functionalities</a:t>
            </a:r>
          </a:p>
          <a:p>
            <a:pPr>
              <a:lnSpc>
                <a:spcPct val="150000"/>
              </a:lnSpc>
            </a:pPr>
            <a:r>
              <a:rPr lang="en-US" sz="2000" dirty="0">
                <a:latin typeface="Times New Roman" panose="02020603050405020304" pitchFamily="18" charset="0"/>
                <a:cs typeface="Times New Roman" panose="02020603050405020304" pitchFamily="18" charset="0"/>
              </a:rPr>
              <a:t>Proposed Tools/Platform</a:t>
            </a:r>
          </a:p>
          <a:p>
            <a:pPr>
              <a:lnSpc>
                <a:spcPct val="150000"/>
              </a:lnSpc>
            </a:pPr>
            <a:r>
              <a:rPr lang="en-US" sz="2000" dirty="0">
                <a:latin typeface="Times New Roman" panose="02020603050405020304" pitchFamily="18" charset="0"/>
                <a:cs typeface="Times New Roman" panose="02020603050405020304" pitchFamily="18" charset="0"/>
              </a:rPr>
              <a:t>Feasibility (Technical, Financial, Resource, Operational)</a:t>
            </a:r>
          </a:p>
          <a:p>
            <a:pPr>
              <a:lnSpc>
                <a:spcPct val="150000"/>
              </a:lnSpc>
            </a:pPr>
            <a:r>
              <a:rPr lang="en-US" sz="2000" dirty="0">
                <a:latin typeface="Times New Roman" panose="02020603050405020304" pitchFamily="18" charset="0"/>
                <a:cs typeface="Times New Roman" panose="02020603050405020304" pitchFamily="18" charset="0"/>
              </a:rPr>
              <a:t>Schedule (Gantt Chart)</a:t>
            </a:r>
          </a:p>
          <a:p>
            <a:pPr>
              <a:lnSpc>
                <a:spcPct val="150000"/>
              </a:lnSpc>
            </a:pPr>
            <a:r>
              <a:rPr lang="en-US" sz="2000" dirty="0">
                <a:latin typeface="Times New Roman" panose="02020603050405020304" pitchFamily="18" charset="0"/>
                <a:cs typeface="Times New Roman" panose="02020603050405020304" pitchFamily="18" charset="0"/>
              </a:rPr>
              <a:t>Tasks for 1st Iteration</a:t>
            </a:r>
          </a:p>
          <a:p>
            <a:pPr>
              <a:lnSpc>
                <a:spcPct val="150000"/>
              </a:lnSpc>
            </a:pPr>
            <a:r>
              <a:rPr lang="en-US" sz="2000" dirty="0">
                <a:latin typeface="Times New Roman" panose="02020603050405020304" pitchFamily="18" charset="0"/>
                <a:cs typeface="Times New Roman" panose="02020603050405020304" pitchFamily="18" charset="0"/>
              </a:rPr>
              <a:t>Conclusion</a:t>
            </a:r>
          </a:p>
          <a:p>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a:t>
            </a:fld>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Motivation</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3</a:t>
            </a:fld>
            <a:endParaRPr lang="en-US" dirty="0">
              <a:latin typeface="Times New Roman" panose="02020603050405020304" pitchFamily="18" charset="0"/>
              <a:cs typeface="Times New Roman" panose="02020603050405020304" pitchFamily="18" charset="0"/>
            </a:endParaRPr>
          </a:p>
        </p:txBody>
      </p:sp>
      <p:sp>
        <p:nvSpPr>
          <p:cNvPr id="3" name="Rectangle 1"/>
          <p:cNvSpPr>
            <a:spLocks noGrp="1" noChangeArrowheads="1"/>
          </p:cNvSpPr>
          <p:nvPr>
            <p:ph idx="1"/>
          </p:nvPr>
        </p:nvSpPr>
        <p:spPr bwMode="auto">
          <a:xfrm>
            <a:off x="609600" y="1785610"/>
            <a:ext cx="8305800" cy="3637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Paper-based home exercises with no supervision</a:t>
            </a:r>
          </a:p>
          <a:p>
            <a:pPr algn="just" fontAlgn="base">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Incorrect movements lead to slow recovery or re-injury</a:t>
            </a:r>
          </a:p>
          <a:p>
            <a:pPr algn="just" fontAlgn="base">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Physiotherapists lack real-time patient progress data</a:t>
            </a:r>
          </a:p>
          <a:p>
            <a:pPr algn="just" fontAlgn="base">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Recovery depends on subjective patient feedback</a:t>
            </a:r>
          </a:p>
          <a:p>
            <a:pPr algn="just" fontAlgn="base">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Repetitive exercises reduce patient motivation</a:t>
            </a:r>
          </a:p>
          <a:p>
            <a:pPr algn="just" fontAlgn="base">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Patients often quit before full rehabilitation</a:t>
            </a:r>
          </a:p>
          <a:p>
            <a:pPr algn="just" fontAlgn="base">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Wearable sensors enable real-time motion tracking</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31CB2-C804-D848-220A-55936BFEEF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5EC7D-34BB-7FB5-6CB2-4345D4326F9F}"/>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Motivation </a:t>
            </a:r>
            <a:r>
              <a:rPr kumimoji="1" lang="en-US" sz="28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2EFBE8-3207-E913-FA01-B7B886AFA8EB}"/>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4</a:t>
            </a:fld>
            <a:endParaRPr lang="en-US"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9C55DFE0-43EA-99EF-9ECB-25F8E2AE65B7}"/>
              </a:ext>
            </a:extLst>
          </p:cNvPr>
          <p:cNvSpPr>
            <a:spLocks noGrp="1" noChangeArrowheads="1"/>
          </p:cNvSpPr>
          <p:nvPr>
            <p:ph idx="1"/>
          </p:nvPr>
        </p:nvSpPr>
        <p:spPr bwMode="auto">
          <a:xfrm>
            <a:off x="533400" y="1905000"/>
            <a:ext cx="6781800" cy="252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AI can detect incorrect posture and movements</a:t>
            </a:r>
          </a:p>
          <a:p>
            <a:pPr algn="just" fontAlgn="base">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3D visualization improves exercise understanding</a:t>
            </a:r>
          </a:p>
          <a:p>
            <a:pPr algn="just" fontAlgn="base">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Gamification increases engagement and consistency</a:t>
            </a:r>
          </a:p>
          <a:p>
            <a:pPr algn="just" fontAlgn="base">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Smart rehabilitation brings clinic-level guidance to home</a:t>
            </a:r>
            <a:br>
              <a:rPr lang="en-US" sz="2000" dirty="0">
                <a:latin typeface="Tahoma" panose="020B0604030504040204" pitchFamily="34" charset="0"/>
                <a:ea typeface="Tahoma" panose="020B0604030504040204" pitchFamily="34" charset="0"/>
                <a:cs typeface="Tahoma" panose="020B0604030504040204" pitchFamily="34" charset="0"/>
              </a:rPr>
            </a:br>
            <a:endParaRPr lang="en-US"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90317749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Brief Introduction</a:t>
            </a:r>
          </a:p>
        </p:txBody>
      </p:sp>
      <p:sp>
        <p:nvSpPr>
          <p:cNvPr id="3" name="Content Placeholder 2"/>
          <p:cNvSpPr>
            <a:spLocks noGrp="1"/>
          </p:cNvSpPr>
          <p:nvPr>
            <p:ph idx="1"/>
          </p:nvPr>
        </p:nvSpPr>
        <p:spPr>
          <a:xfrm>
            <a:off x="483669" y="1631482"/>
            <a:ext cx="8229600" cy="4983162"/>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A smart rehabilitation platform for shoulder, elbow, and upper-arm recovery that combines wearable IMU and EMG sensors, AI-based movement analysis, and a mobile app to provide real-time physiotherapy support at home. The system tracks arm movement and muscle activity, visualizes exercises through a 3D digital twin, detects incorrect movements, and provides instant voice and visual feedback (preferably in Urdu). It also enables remote physiotherapist monitoring and uses gamification to improve patient engagement and recovery outcomes.</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5</a:t>
            </a:fld>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a:bodyPr>
          <a:lstStyle/>
          <a:p>
            <a:pPr algn="l"/>
            <a:r>
              <a:rPr lang="en-US" dirty="0">
                <a:latin typeface="Times New Roman" panose="02020603050405020304" pitchFamily="18" charset="0"/>
                <a:cs typeface="Times New Roman" panose="02020603050405020304" pitchFamily="18" charset="0"/>
              </a:rPr>
              <a:t>Scope </a:t>
            </a:r>
            <a:r>
              <a:rPr lang="en-US" sz="31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What the System Will Do</a:t>
            </a:r>
            <a:r>
              <a:rPr lang="en-US" sz="3100"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a:xfrm>
            <a:off x="457200" y="1349141"/>
            <a:ext cx="8229600" cy="4708525"/>
          </a:xfrm>
        </p:spPr>
        <p:txBody>
          <a:bodyPr>
            <a:noAutofit/>
          </a:bodyPr>
          <a:lstStyle/>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Integration of dual IMU (Inertial Measurement Unit) sensors and dual-channel EMG (Electromyography) sensors for upper-limb rehabilitation monitoring.</a:t>
            </a:r>
          </a:p>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Development of a BLE-enabled wearable system for real-time transmission of motion and muscle activity data to a mobile application.</a:t>
            </a:r>
          </a:p>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Development of a Flutter-based Android mobile application for rehabilitation exercises, patient interaction, and physiotherapist connectivity.</a:t>
            </a:r>
          </a:p>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Real-time acquisition and preprocessing of IMU and EMG sensor data, including filtering and normalization.</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6553200" y="6416675"/>
            <a:ext cx="2133600" cy="365125"/>
          </a:xfrm>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6</a:t>
            </a:fld>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A396C-8D3F-6728-8149-BE57B863B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1C482-711F-C754-B359-4269C8A87BA7}"/>
              </a:ext>
            </a:extLst>
          </p:cNvPr>
          <p:cNvSpPr>
            <a:spLocks noGrp="1"/>
          </p:cNvSpPr>
          <p:nvPr>
            <p:ph type="title"/>
          </p:nvPr>
        </p:nvSpPr>
        <p:spPr>
          <a:xfrm>
            <a:off x="457200" y="274638"/>
            <a:ext cx="8229600" cy="1020762"/>
          </a:xfrm>
        </p:spPr>
        <p:txBody>
          <a:bodyPr>
            <a:normAutofit/>
          </a:bodyPr>
          <a:lstStyle/>
          <a:p>
            <a:pPr algn="l"/>
            <a:r>
              <a:rPr lang="en-US" dirty="0">
                <a:latin typeface="Times New Roman" panose="02020603050405020304" pitchFamily="18" charset="0"/>
                <a:cs typeface="Times New Roman" panose="02020603050405020304" pitchFamily="18" charset="0"/>
              </a:rPr>
              <a:t>Scope </a:t>
            </a:r>
            <a:r>
              <a:rPr lang="en-US" sz="31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What the System Will Do</a:t>
            </a:r>
            <a:r>
              <a:rPr lang="en-US" sz="3100" dirty="0">
                <a:latin typeface="Times New Roman" panose="02020603050405020304" pitchFamily="18" charset="0"/>
                <a:cs typeface="Times New Roman" panose="02020603050405020304" pitchFamily="18" charset="0"/>
              </a:rPr>
              <a:t>) </a:t>
            </a:r>
            <a:r>
              <a:rPr kumimoji="1" lang="en-US" sz="28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2F45CE-93DE-2BF9-591E-6230397087F4}"/>
              </a:ext>
            </a:extLst>
          </p:cNvPr>
          <p:cNvSpPr>
            <a:spLocks noGrp="1"/>
          </p:cNvSpPr>
          <p:nvPr>
            <p:ph idx="1"/>
          </p:nvPr>
        </p:nvSpPr>
        <p:spPr>
          <a:xfrm>
            <a:off x="487680" y="1501775"/>
            <a:ext cx="8229600" cy="4708525"/>
          </a:xfrm>
        </p:spPr>
        <p:txBody>
          <a:bodyPr>
            <a:noAutofit/>
          </a:bodyPr>
          <a:lstStyle/>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Implementation of sensor fusion techniques for accurate arm orientation, motion tracking, and joint movement estimation.</a:t>
            </a:r>
          </a:p>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EMG signal processing for monitoring muscle activation and rehabilitation performance.</a:t>
            </a:r>
          </a:p>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Development of a 3D digital twin for real-time visualization of upper-limb movement and muscle activity.</a:t>
            </a:r>
          </a:p>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AI-based anomaly detection for identifying incorrect posture, compensatory movements, and abnormal rehabilitation patterns.</a:t>
            </a:r>
            <a:br>
              <a:rPr lang="en-US" sz="2000" dirty="0">
                <a:latin typeface="Times New Roman" panose="02020603050405020304" pitchFamily="18" charset="0"/>
                <a:cs typeface="Times New Roman" panose="02020603050405020304" pitchFamily="18" charset="0"/>
              </a:rPr>
            </a:br>
            <a:br>
              <a:rPr lang="en-US" sz="2000" dirty="0"/>
            </a:br>
            <a:br>
              <a:rPr lang="en-US" sz="2000" dirty="0"/>
            </a:br>
            <a:br>
              <a:rPr lang="en-US" sz="2000" dirty="0"/>
            </a:b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680E622-DAE0-F4C1-E2B6-71024928948B}"/>
              </a:ext>
            </a:extLst>
          </p:cNvPr>
          <p:cNvSpPr>
            <a:spLocks noGrp="1"/>
          </p:cNvSpPr>
          <p:nvPr>
            <p:ph type="sldNum" sz="quarter" idx="12"/>
          </p:nvPr>
        </p:nvSpPr>
        <p:spPr>
          <a:xfrm>
            <a:off x="6553200" y="6416675"/>
            <a:ext cx="2133600" cy="365125"/>
          </a:xfrm>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7</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5038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38B44-E1E7-6A45-25BC-935FCCCE9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F5E48-FBDC-0581-496A-A47486B0F737}"/>
              </a:ext>
            </a:extLst>
          </p:cNvPr>
          <p:cNvSpPr>
            <a:spLocks noGrp="1"/>
          </p:cNvSpPr>
          <p:nvPr>
            <p:ph type="title"/>
          </p:nvPr>
        </p:nvSpPr>
        <p:spPr>
          <a:xfrm>
            <a:off x="457200" y="274638"/>
            <a:ext cx="8229600" cy="1020762"/>
          </a:xfrm>
        </p:spPr>
        <p:txBody>
          <a:bodyPr>
            <a:normAutofit/>
          </a:bodyPr>
          <a:lstStyle/>
          <a:p>
            <a:pPr algn="l"/>
            <a:r>
              <a:rPr lang="en-US" dirty="0">
                <a:latin typeface="Times New Roman" panose="02020603050405020304" pitchFamily="18" charset="0"/>
                <a:cs typeface="Times New Roman" panose="02020603050405020304" pitchFamily="18" charset="0"/>
              </a:rPr>
              <a:t>Scope </a:t>
            </a:r>
            <a:r>
              <a:rPr lang="en-US" sz="31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What the System Will Do</a:t>
            </a:r>
            <a:r>
              <a:rPr lang="en-US" sz="3100" dirty="0">
                <a:latin typeface="Times New Roman" panose="02020603050405020304" pitchFamily="18" charset="0"/>
                <a:cs typeface="Times New Roman" panose="02020603050405020304" pitchFamily="18" charset="0"/>
              </a:rPr>
              <a:t>) </a:t>
            </a:r>
            <a:r>
              <a:rPr kumimoji="1" lang="en-US" sz="28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E9C2519-AF9D-AF96-1917-931DA86804CB}"/>
              </a:ext>
            </a:extLst>
          </p:cNvPr>
          <p:cNvSpPr>
            <a:spLocks noGrp="1"/>
          </p:cNvSpPr>
          <p:nvPr>
            <p:ph idx="1"/>
          </p:nvPr>
        </p:nvSpPr>
        <p:spPr>
          <a:xfrm>
            <a:off x="487680" y="1501775"/>
            <a:ext cx="8229600" cy="4708525"/>
          </a:xfrm>
        </p:spPr>
        <p:txBody>
          <a:bodyPr>
            <a:noAutofit/>
          </a:bodyPr>
          <a:lstStyle/>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Real-time voice and visual feedback for exercise correction and guidance.</a:t>
            </a:r>
          </a:p>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Personalized rehabilitation exercise management for physiotherapists and patients.</a:t>
            </a:r>
          </a:p>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Development of a web-based clinic panel for adding appointed physiotherapist and web-based physiotherapist dashboard for remote monitoring, patient progress tracking, and rehabilitation analytics.</a:t>
            </a:r>
          </a:p>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Automated repetition counting, Range of Motion (ROM) estimation, and exercise quality assessment using sensor data.</a:t>
            </a:r>
          </a:p>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Gamification features including streaks, badges, milestones, and recovery levels to improve patient motivation and adherence.</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b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5C80ADC-CA4B-5C0F-FA09-731E37ED1756}"/>
              </a:ext>
            </a:extLst>
          </p:cNvPr>
          <p:cNvSpPr>
            <a:spLocks noGrp="1"/>
          </p:cNvSpPr>
          <p:nvPr>
            <p:ph type="sldNum" sz="quarter" idx="12"/>
          </p:nvPr>
        </p:nvSpPr>
        <p:spPr>
          <a:xfrm>
            <a:off x="6553200" y="6416675"/>
            <a:ext cx="2133600" cy="365125"/>
          </a:xfrm>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8</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86129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6464C-16E3-AF91-F38D-64FC6A0F1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D497F-4D92-C3A3-6800-7135CB566EBB}"/>
              </a:ext>
            </a:extLst>
          </p:cNvPr>
          <p:cNvSpPr>
            <a:spLocks noGrp="1"/>
          </p:cNvSpPr>
          <p:nvPr>
            <p:ph type="title"/>
          </p:nvPr>
        </p:nvSpPr>
        <p:spPr>
          <a:xfrm>
            <a:off x="457200" y="274638"/>
            <a:ext cx="8229600" cy="1020762"/>
          </a:xfrm>
        </p:spPr>
        <p:txBody>
          <a:bodyPr>
            <a:normAutofit/>
          </a:bodyPr>
          <a:lstStyle/>
          <a:p>
            <a:pPr algn="l"/>
            <a:r>
              <a:rPr lang="en-US" dirty="0">
                <a:latin typeface="Times New Roman" panose="02020603050405020304" pitchFamily="18" charset="0"/>
                <a:cs typeface="Times New Roman" panose="02020603050405020304" pitchFamily="18" charset="0"/>
              </a:rPr>
              <a:t>Scope </a:t>
            </a:r>
            <a:r>
              <a:rPr lang="en-US" sz="31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What the System Will Do</a:t>
            </a:r>
            <a:r>
              <a:rPr lang="en-US" sz="3100" dirty="0">
                <a:latin typeface="Times New Roman" panose="02020603050405020304" pitchFamily="18" charset="0"/>
                <a:cs typeface="Times New Roman" panose="02020603050405020304" pitchFamily="18" charset="0"/>
              </a:rPr>
              <a:t>) </a:t>
            </a:r>
            <a:r>
              <a:rPr kumimoji="1" lang="en-US" sz="28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C8FB3D5-E19F-C529-7BFC-6D0D0D3C7067}"/>
              </a:ext>
            </a:extLst>
          </p:cNvPr>
          <p:cNvSpPr>
            <a:spLocks noGrp="1"/>
          </p:cNvSpPr>
          <p:nvPr>
            <p:ph idx="1"/>
          </p:nvPr>
        </p:nvSpPr>
        <p:spPr>
          <a:xfrm>
            <a:off x="487680" y="1501775"/>
            <a:ext cx="8229600" cy="4708525"/>
          </a:xfrm>
        </p:spPr>
        <p:txBody>
          <a:bodyPr>
            <a:noAutofit/>
          </a:bodyPr>
          <a:lstStyle/>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Cloud-based storage and synchronization of rehabilitation sessions and patient progress records.</a:t>
            </a:r>
          </a:p>
          <a:p>
            <a:pPr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Support for rehabilitation exercises targeting shoulder, elbow, and upper-arm musculoskeletal injuries.</a:t>
            </a:r>
          </a:p>
        </p:txBody>
      </p:sp>
      <p:sp>
        <p:nvSpPr>
          <p:cNvPr id="4" name="Slide Number Placeholder 3">
            <a:extLst>
              <a:ext uri="{FF2B5EF4-FFF2-40B4-BE49-F238E27FC236}">
                <a16:creationId xmlns:a16="http://schemas.microsoft.com/office/drawing/2014/main" id="{D5333367-399C-90BE-C24E-B75D83E6A247}"/>
              </a:ext>
            </a:extLst>
          </p:cNvPr>
          <p:cNvSpPr>
            <a:spLocks noGrp="1"/>
          </p:cNvSpPr>
          <p:nvPr>
            <p:ph type="sldNum" sz="quarter" idx="12"/>
          </p:nvPr>
        </p:nvSpPr>
        <p:spPr>
          <a:xfrm>
            <a:off x="6553200" y="6416675"/>
            <a:ext cx="2133600" cy="365125"/>
          </a:xfrm>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9</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430086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latin typeface="Times New Roman" panose="02020603050405020304" pitchFamily="18" charset="0"/>
                <a:cs typeface="Times New Roman" panose="02020603050405020304" pitchFamily="18" charset="0"/>
              </a:rPr>
              <a:t>Scope </a:t>
            </a:r>
            <a:r>
              <a:rPr lang="en-US" sz="2400" dirty="0">
                <a:latin typeface="Times New Roman" panose="02020603050405020304" pitchFamily="18" charset="0"/>
                <a:cs typeface="Times New Roman" panose="02020603050405020304" pitchFamily="18" charset="0"/>
              </a:rPr>
              <a:t>(What the System Will Not Do) </a:t>
            </a:r>
            <a:r>
              <a:rPr kumimoji="1" lang="en-US" sz="24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400" dirty="0"/>
          </a:p>
        </p:txBody>
      </p:sp>
      <p:sp>
        <p:nvSpPr>
          <p:cNvPr id="3" name="Content Placeholder 2"/>
          <p:cNvSpPr>
            <a:spLocks noGrp="1"/>
          </p:cNvSpPr>
          <p:nvPr>
            <p:ph idx="1"/>
          </p:nvPr>
        </p:nvSpPr>
        <p:spPr>
          <a:xfrm>
            <a:off x="465221" y="1524000"/>
            <a:ext cx="8229600" cy="4525963"/>
          </a:xfrm>
        </p:spPr>
        <p:txBody>
          <a:bodyPr>
            <a:normAutofit/>
          </a:bodyPr>
          <a:lstStyle/>
          <a:p>
            <a:pPr lvl="0" algn="just">
              <a:lnSpc>
                <a:spcPct val="150000"/>
              </a:lnSpc>
            </a:pPr>
            <a:r>
              <a:rPr lang="en-US" sz="2000" dirty="0">
                <a:latin typeface="Times New Roman" panose="02020603050405020304" pitchFamily="18" charset="0"/>
                <a:cs typeface="Times New Roman" panose="02020603050405020304" pitchFamily="18" charset="0"/>
              </a:rPr>
              <a:t>Upper-arm injuries only</a:t>
            </a:r>
          </a:p>
          <a:p>
            <a:pPr lvl="0" algn="just">
              <a:lnSpc>
                <a:spcPct val="150000"/>
              </a:lnSpc>
            </a:pPr>
            <a:r>
              <a:rPr lang="en-PK" sz="2000" dirty="0">
                <a:latin typeface="Times New Roman" panose="02020603050405020304" pitchFamily="18" charset="0"/>
                <a:cs typeface="Times New Roman" panose="02020603050405020304" pitchFamily="18" charset="0"/>
              </a:rPr>
              <a:t>Live video-based pose estimation systems</a:t>
            </a:r>
          </a:p>
          <a:p>
            <a:pPr lvl="0" algn="just">
              <a:lnSpc>
                <a:spcPct val="150000"/>
              </a:lnSpc>
            </a:pPr>
            <a:r>
              <a:rPr lang="en-PK" sz="2000" dirty="0">
                <a:latin typeface="Times New Roman" panose="02020603050405020304" pitchFamily="18" charset="0"/>
                <a:cs typeface="Times New Roman" panose="02020603050405020304" pitchFamily="18" charset="0"/>
              </a:rPr>
              <a:t>Clinical diagnostic capabilities beyond exercise guidance</a:t>
            </a:r>
          </a:p>
          <a:p>
            <a:pPr lvl="0" algn="just">
              <a:lnSpc>
                <a:spcPct val="150000"/>
              </a:lnSpc>
            </a:pPr>
            <a:r>
              <a:rPr lang="en-PK" sz="2000" dirty="0">
                <a:latin typeface="Times New Roman" panose="02020603050405020304" pitchFamily="18" charset="0"/>
                <a:cs typeface="Times New Roman" panose="02020603050405020304" pitchFamily="18" charset="0"/>
              </a:rPr>
              <a:t>Integration with hospital electronic medical record (EMR) systems</a:t>
            </a:r>
          </a:p>
          <a:p>
            <a:pPr lvl="0" algn="just">
              <a:lnSpc>
                <a:spcPct val="150000"/>
              </a:lnSpc>
            </a:pPr>
            <a:r>
              <a:rPr lang="en-PK" sz="2000" dirty="0">
                <a:latin typeface="Times New Roman" panose="02020603050405020304" pitchFamily="18" charset="0"/>
                <a:cs typeface="Times New Roman" panose="02020603050405020304" pitchFamily="18" charset="0"/>
              </a:rPr>
              <a:t>Physics-based biomechanical force simulations</a:t>
            </a:r>
          </a:p>
          <a:p>
            <a:pPr lvl="0" algn="just">
              <a:lnSpc>
                <a:spcPct val="150000"/>
              </a:lnSpc>
            </a:pPr>
            <a:r>
              <a:rPr lang="en-PK" sz="2000" dirty="0">
                <a:latin typeface="Times New Roman" panose="02020603050405020304" pitchFamily="18" charset="0"/>
                <a:cs typeface="Times New Roman" panose="02020603050405020304" pitchFamily="18" charset="0"/>
              </a:rPr>
              <a:t>Medical prescriptions or replacement of professional clinical diagnosis</a:t>
            </a:r>
          </a:p>
          <a:p>
            <a:pPr>
              <a:lnSpc>
                <a:spcPct val="150000"/>
              </a:lnSpc>
            </a:pPr>
            <a:endParaRPr 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pPr/>
              <a:t>10</a:t>
            </a:fld>
            <a:endParaRPr lang="en-US"/>
          </a:p>
        </p:txBody>
      </p:sp>
    </p:spTree>
    <p:extLst>
      <p:ext uri="{BB962C8B-B14F-4D97-AF65-F5344CB8AC3E}">
        <p14:creationId xmlns:p14="http://schemas.microsoft.com/office/powerpoint/2010/main" val="661009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066800"/>
          </a:xfrm>
        </p:spPr>
        <p:txBody>
          <a:bodyPr/>
          <a:lstStyle/>
          <a:p>
            <a:pPr algn="l"/>
            <a:r>
              <a:rPr lang="en-US" dirty="0">
                <a:latin typeface="Times New Roman" panose="02020603050405020304" pitchFamily="18" charset="0"/>
                <a:cs typeface="Times New Roman" panose="02020603050405020304" pitchFamily="18" charset="0"/>
              </a:rPr>
              <a:t>Functionalities</a:t>
            </a:r>
          </a:p>
        </p:txBody>
      </p:sp>
      <p:sp>
        <p:nvSpPr>
          <p:cNvPr id="3" name="Content Placeholder 2"/>
          <p:cNvSpPr>
            <a:spLocks noGrp="1"/>
          </p:cNvSpPr>
          <p:nvPr>
            <p:ph idx="1"/>
          </p:nvPr>
        </p:nvSpPr>
        <p:spPr>
          <a:xfrm>
            <a:off x="457200" y="1600200"/>
            <a:ext cx="8458200" cy="4953000"/>
          </a:xfrm>
        </p:spPr>
        <p:txBody>
          <a:bodyPr>
            <a:noAutofit/>
          </a:bodyPr>
          <a:lstStyle/>
          <a:p>
            <a:pPr marL="0" lvl="0" indent="0" algn="just">
              <a:lnSpc>
                <a:spcPct val="150000"/>
              </a:lnSpc>
              <a:buNone/>
            </a:pPr>
            <a:r>
              <a:rPr lang="en-US" sz="2000" b="1" dirty="0">
                <a:latin typeface="Times New Roman" panose="02020603050405020304" pitchFamily="18" charset="0"/>
                <a:cs typeface="Times New Roman" panose="02020603050405020304" pitchFamily="18" charset="0"/>
              </a:rPr>
              <a:t>Clinic and Patient Onboarding</a:t>
            </a:r>
          </a:p>
          <a:p>
            <a:pPr algn="just">
              <a:lnSpc>
                <a:spcPct val="150000"/>
              </a:lnSpc>
            </a:pPr>
            <a:r>
              <a:rPr lang="en-US" sz="2000" b="1" dirty="0">
                <a:latin typeface="Times New Roman" panose="02020603050405020304" pitchFamily="18" charset="0"/>
                <a:cs typeface="Times New Roman" panose="02020603050405020304" pitchFamily="18" charset="0"/>
              </a:rPr>
              <a:t>FR01: </a:t>
            </a:r>
            <a:r>
              <a:rPr lang="en-US" sz="2000" dirty="0">
                <a:latin typeface="Times New Roman" panose="02020603050405020304" pitchFamily="18" charset="0"/>
                <a:cs typeface="Times New Roman" panose="02020603050405020304" pitchFamily="18" charset="0"/>
              </a:rPr>
              <a:t>The system shall allow patient registration and login under a appointed physiotherapist from selected hospital or clinic</a:t>
            </a:r>
          </a:p>
          <a:p>
            <a:pPr algn="just">
              <a:lnSpc>
                <a:spcPct val="150000"/>
              </a:lnSpc>
            </a:pPr>
            <a:r>
              <a:rPr lang="en-US" sz="2000" b="1" dirty="0">
                <a:latin typeface="Times New Roman" panose="02020603050405020304" pitchFamily="18" charset="0"/>
                <a:cs typeface="Times New Roman" panose="02020603050405020304" pitchFamily="18" charset="0"/>
              </a:rPr>
              <a:t>FR02: </a:t>
            </a:r>
            <a:r>
              <a:rPr lang="en-US" sz="2000" dirty="0">
                <a:latin typeface="Times New Roman" panose="02020603050405020304" pitchFamily="18" charset="0"/>
                <a:cs typeface="Times New Roman" panose="02020603050405020304" pitchFamily="18" charset="0"/>
              </a:rPr>
              <a:t>The system shall permit physiotherapist login with role-based access to patient management tools</a:t>
            </a:r>
          </a:p>
          <a:p>
            <a:pPr algn="just">
              <a:lnSpc>
                <a:spcPct val="150000"/>
              </a:lnSpc>
            </a:pPr>
            <a:r>
              <a:rPr lang="en-US" sz="2000" b="1" dirty="0">
                <a:latin typeface="Times New Roman" panose="02020603050405020304" pitchFamily="18" charset="0"/>
                <a:cs typeface="Times New Roman" panose="02020603050405020304" pitchFamily="18" charset="0"/>
              </a:rPr>
              <a:t>FR03: </a:t>
            </a:r>
            <a:r>
              <a:rPr lang="en-US" sz="2000" dirty="0">
                <a:latin typeface="Times New Roman" panose="02020603050405020304" pitchFamily="18" charset="0"/>
                <a:cs typeface="Times New Roman" panose="02020603050405020304" pitchFamily="18" charset="0"/>
              </a:rPr>
              <a:t>The system shall capture patient injury type, affected joint, and recovery stage during registration</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11</a:t>
            </a:fld>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47A26-E6B9-0354-173D-8121ACEA36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6BCAC-3CCA-835B-7473-26FB1629B4A7}"/>
              </a:ext>
            </a:extLst>
          </p:cNvPr>
          <p:cNvSpPr>
            <a:spLocks noGrp="1"/>
          </p:cNvSpPr>
          <p:nvPr>
            <p:ph type="title"/>
          </p:nvPr>
        </p:nvSpPr>
        <p:spPr>
          <a:xfrm>
            <a:off x="457200" y="304800"/>
            <a:ext cx="8229600" cy="1066800"/>
          </a:xfrm>
        </p:spPr>
        <p:txBody>
          <a:bodyPr/>
          <a:lstStyle/>
          <a:p>
            <a:pPr algn="l"/>
            <a:r>
              <a:rPr lang="en-US" dirty="0">
                <a:latin typeface="Times New Roman" panose="02020603050405020304" pitchFamily="18" charset="0"/>
                <a:cs typeface="Times New Roman" panose="02020603050405020304" pitchFamily="18" charset="0"/>
              </a:rPr>
              <a:t>Functionalities </a:t>
            </a:r>
            <a:r>
              <a:rPr kumimoji="1" lang="en-US" sz="24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B3B694-59C5-78D5-BC47-A6F61CE45459}"/>
              </a:ext>
            </a:extLst>
          </p:cNvPr>
          <p:cNvSpPr>
            <a:spLocks noGrp="1"/>
          </p:cNvSpPr>
          <p:nvPr>
            <p:ph idx="1"/>
          </p:nvPr>
        </p:nvSpPr>
        <p:spPr>
          <a:xfrm>
            <a:off x="457200" y="1524000"/>
            <a:ext cx="8458200" cy="5029200"/>
          </a:xfrm>
        </p:spPr>
        <p:txBody>
          <a:bodyPr>
            <a:noAutofit/>
          </a:bodyPr>
          <a:lstStyle/>
          <a:p>
            <a:pPr marL="0" indent="0" algn="just">
              <a:lnSpc>
                <a:spcPct val="150000"/>
              </a:lnSpc>
              <a:buNone/>
            </a:pPr>
            <a:r>
              <a:rPr lang="en-US" sz="2000" b="1" dirty="0">
                <a:latin typeface="Times New Roman" panose="02020603050405020304" pitchFamily="18" charset="0"/>
                <a:cs typeface="Times New Roman" panose="02020603050405020304" pitchFamily="18" charset="0"/>
              </a:rPr>
              <a:t>Clinical Exercise Database</a:t>
            </a:r>
          </a:p>
          <a:p>
            <a:pPr algn="just">
              <a:lnSpc>
                <a:spcPct val="150000"/>
              </a:lnSpc>
            </a:pPr>
            <a:r>
              <a:rPr lang="en-US" sz="2000" b="1" dirty="0">
                <a:latin typeface="Times New Roman" panose="02020603050405020304" pitchFamily="18" charset="0"/>
                <a:cs typeface="Times New Roman" panose="02020603050405020304" pitchFamily="18" charset="0"/>
              </a:rPr>
              <a:t>FR04: </a:t>
            </a:r>
            <a:r>
              <a:rPr lang="en-US" sz="2000" dirty="0">
                <a:latin typeface="Times New Roman" panose="02020603050405020304" pitchFamily="18" charset="0"/>
                <a:cs typeface="Times New Roman" panose="02020603050405020304" pitchFamily="18" charset="0"/>
              </a:rPr>
              <a:t>The system shall store rehabilitation exercise templates with target joint movement and muscle activation information</a:t>
            </a:r>
          </a:p>
          <a:p>
            <a:pPr algn="just">
              <a:lnSpc>
                <a:spcPct val="150000"/>
              </a:lnSpc>
            </a:pPr>
            <a:r>
              <a:rPr lang="en-US" sz="2000" b="1" dirty="0">
                <a:latin typeface="Times New Roman" panose="02020603050405020304" pitchFamily="18" charset="0"/>
                <a:cs typeface="Times New Roman" panose="02020603050405020304" pitchFamily="18" charset="0"/>
              </a:rPr>
              <a:t>FR05: </a:t>
            </a:r>
            <a:r>
              <a:rPr lang="en-US" sz="2000" dirty="0">
                <a:latin typeface="Times New Roman" panose="02020603050405020304" pitchFamily="18" charset="0"/>
                <a:cs typeface="Times New Roman" panose="02020603050405020304" pitchFamily="18" charset="0"/>
              </a:rPr>
              <a:t>The system shall enable physiotherapist creation and assignment of personalized exercise protocols from exercise database</a:t>
            </a:r>
          </a:p>
          <a:p>
            <a:pPr algn="just">
              <a:lnSpc>
                <a:spcPct val="150000"/>
              </a:lnSpc>
            </a:pPr>
            <a:r>
              <a:rPr lang="en-US" sz="2000" b="1" dirty="0">
                <a:latin typeface="Times New Roman" panose="02020603050405020304" pitchFamily="18" charset="0"/>
                <a:cs typeface="Times New Roman" panose="02020603050405020304" pitchFamily="18" charset="0"/>
              </a:rPr>
              <a:t>FR06: </a:t>
            </a:r>
            <a:r>
              <a:rPr lang="en-US" sz="2000" dirty="0">
                <a:latin typeface="Times New Roman" panose="02020603050405020304" pitchFamily="18" charset="0"/>
                <a:cs typeface="Times New Roman" panose="02020603050405020304" pitchFamily="18" charset="0"/>
              </a:rPr>
              <a:t>The system shall maintain version history for all protocol changes and assignments</a:t>
            </a:r>
          </a:p>
          <a:p>
            <a:pPr algn="just">
              <a:lnSpc>
                <a:spcPct val="150000"/>
              </a:lnSpc>
            </a:pPr>
            <a:r>
              <a:rPr lang="en-US" sz="2000" b="1" dirty="0">
                <a:latin typeface="Times New Roman" panose="02020603050405020304" pitchFamily="18" charset="0"/>
                <a:cs typeface="Times New Roman" panose="02020603050405020304" pitchFamily="18" charset="0"/>
              </a:rPr>
              <a:t>FR07:</a:t>
            </a:r>
            <a:r>
              <a:rPr lang="en-US" sz="2000" dirty="0">
                <a:latin typeface="Times New Roman" panose="02020603050405020304" pitchFamily="18" charset="0"/>
                <a:cs typeface="Times New Roman" panose="02020603050405020304" pitchFamily="18" charset="0"/>
              </a:rPr>
              <a:t> The system shall support exercise scheduling with repetitions, sets, duration, and recovery intervals.</a:t>
            </a:r>
          </a:p>
        </p:txBody>
      </p:sp>
      <p:sp>
        <p:nvSpPr>
          <p:cNvPr id="4" name="Slide Number Placeholder 3">
            <a:extLst>
              <a:ext uri="{FF2B5EF4-FFF2-40B4-BE49-F238E27FC236}">
                <a16:creationId xmlns:a16="http://schemas.microsoft.com/office/drawing/2014/main" id="{D6B71F84-25E1-6A05-694B-8774226B318C}"/>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731419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BD1F5-C222-E38A-FFB1-0A51F4A84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04A74-3F11-765A-A34B-D849CD35A71D}"/>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Functionalities </a:t>
            </a:r>
            <a:r>
              <a:rPr kumimoji="1" lang="en-US" sz="24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400" dirty="0"/>
          </a:p>
        </p:txBody>
      </p:sp>
      <p:sp>
        <p:nvSpPr>
          <p:cNvPr id="3" name="Content Placeholder 2">
            <a:extLst>
              <a:ext uri="{FF2B5EF4-FFF2-40B4-BE49-F238E27FC236}">
                <a16:creationId xmlns:a16="http://schemas.microsoft.com/office/drawing/2014/main" id="{402B3021-EBE1-E0EB-07E8-77DF3DEB1CB3}"/>
              </a:ext>
            </a:extLst>
          </p:cNvPr>
          <p:cNvSpPr>
            <a:spLocks noGrp="1"/>
          </p:cNvSpPr>
          <p:nvPr>
            <p:ph idx="1"/>
          </p:nvPr>
        </p:nvSpPr>
        <p:spPr>
          <a:xfrm>
            <a:off x="457200" y="1600199"/>
            <a:ext cx="8229600" cy="5121275"/>
          </a:xfrm>
        </p:spPr>
        <p:txBody>
          <a:bodyPr>
            <a:normAutofit/>
          </a:bodyPr>
          <a:lstStyle/>
          <a:p>
            <a:pPr marL="0" indent="0" algn="just" fontAlgn="base">
              <a:lnSpc>
                <a:spcPct val="150000"/>
              </a:lnSpc>
              <a:buNone/>
            </a:pPr>
            <a:r>
              <a:rPr lang="en-US" sz="2200" b="1" dirty="0">
                <a:latin typeface="Times New Roman" panose="02020603050405020304" pitchFamily="18" charset="0"/>
                <a:cs typeface="Times New Roman" panose="02020603050405020304" pitchFamily="18" charset="0"/>
              </a:rPr>
              <a:t>Wearable Sensor and Bluetooth Connection</a:t>
            </a:r>
          </a:p>
          <a:p>
            <a:pPr algn="just" fontAlgn="base">
              <a:lnSpc>
                <a:spcPct val="150000"/>
              </a:lnSpc>
            </a:pPr>
            <a:r>
              <a:rPr lang="en-US" sz="2200" b="1" dirty="0">
                <a:latin typeface="Times New Roman" panose="02020603050405020304" pitchFamily="18" charset="0"/>
                <a:cs typeface="Times New Roman" panose="02020603050405020304" pitchFamily="18" charset="0"/>
              </a:rPr>
              <a:t>FR08: </a:t>
            </a:r>
            <a:r>
              <a:rPr lang="en-US" sz="2200" dirty="0">
                <a:latin typeface="Times New Roman" panose="02020603050405020304" pitchFamily="18" charset="0"/>
                <a:cs typeface="Times New Roman" panose="02020603050405020304" pitchFamily="18" charset="0"/>
              </a:rPr>
              <a:t>The system shall establish Bluetooth Low Energy pairing between wearable and mobile application</a:t>
            </a:r>
          </a:p>
          <a:p>
            <a:pPr algn="just" fontAlgn="base">
              <a:lnSpc>
                <a:spcPct val="150000"/>
              </a:lnSpc>
            </a:pPr>
            <a:r>
              <a:rPr lang="en-US" sz="2200" b="1" dirty="0">
                <a:latin typeface="Times New Roman" panose="02020603050405020304" pitchFamily="18" charset="0"/>
                <a:cs typeface="Times New Roman" panose="02020603050405020304" pitchFamily="18" charset="0"/>
              </a:rPr>
              <a:t>FR09:</a:t>
            </a:r>
            <a:r>
              <a:rPr lang="en-US" sz="2200" dirty="0">
                <a:latin typeface="Times New Roman" panose="02020603050405020304" pitchFamily="18" charset="0"/>
                <a:cs typeface="Times New Roman" panose="02020603050405020304" pitchFamily="18" charset="0"/>
              </a:rPr>
              <a:t> The system shall stream dual IMU data (accelerometer, gyroscope) and dual EMG data from surface electrodes in real time</a:t>
            </a:r>
          </a:p>
          <a:p>
            <a:pPr algn="just" fontAlgn="base">
              <a:lnSpc>
                <a:spcPct val="150000"/>
              </a:lnSpc>
            </a:pPr>
            <a:r>
              <a:rPr lang="en-US" sz="2200" b="1" dirty="0">
                <a:latin typeface="Times New Roman" panose="02020603050405020304" pitchFamily="18" charset="0"/>
                <a:cs typeface="Times New Roman" panose="02020603050405020304" pitchFamily="18" charset="0"/>
              </a:rPr>
              <a:t>FR10 </a:t>
            </a:r>
            <a:r>
              <a:rPr lang="en-US" sz="2200" dirty="0">
                <a:latin typeface="Times New Roman" panose="02020603050405020304" pitchFamily="18" charset="0"/>
                <a:cs typeface="Times New Roman" panose="02020603050405020304" pitchFamily="18" charset="0"/>
              </a:rPr>
              <a:t>The system shall monitor Bluetooth connection quality and triggers automatic reconnection on dropout</a:t>
            </a:r>
          </a:p>
          <a:p>
            <a:pPr algn="just" fontAlgn="base">
              <a:lnSpc>
                <a:spcPct val="150000"/>
              </a:lnSpc>
            </a:pPr>
            <a:r>
              <a:rPr lang="en-US" sz="2200" b="1" dirty="0">
                <a:latin typeface="Times New Roman" panose="02020603050405020304" pitchFamily="18" charset="0"/>
                <a:ea typeface="Tahoma" panose="020B0604030504040204" pitchFamily="34" charset="0"/>
                <a:cs typeface="Times New Roman" panose="02020603050405020304" pitchFamily="18" charset="0"/>
              </a:rPr>
              <a:t>FR11: </a:t>
            </a:r>
            <a:r>
              <a:rPr lang="en-US" sz="2200" dirty="0">
                <a:latin typeface="Times New Roman" panose="02020603050405020304" pitchFamily="18" charset="0"/>
                <a:ea typeface="Tahoma" panose="020B0604030504040204" pitchFamily="34" charset="0"/>
                <a:cs typeface="Times New Roman" panose="02020603050405020304" pitchFamily="18" charset="0"/>
              </a:rPr>
              <a:t>The system shall support exercise scheduling with repetitions, sets, duration, and recovery intervals.</a:t>
            </a:r>
            <a:endParaRPr lang="en-US" sz="2000" dirty="0">
              <a:latin typeface="Times New Roman" panose="02020603050405020304" pitchFamily="18" charset="0"/>
              <a:cs typeface="Times New Roman" panose="02020603050405020304" pitchFamily="18" charset="0"/>
            </a:endParaRPr>
          </a:p>
          <a:p>
            <a:pPr algn="just" fontAlgn="base">
              <a:lnSpc>
                <a:spcPct val="150000"/>
              </a:lnSpc>
            </a:pPr>
            <a:endParaRPr lang="en-US" sz="2200" dirty="0">
              <a:latin typeface="Times New Roman" panose="02020603050405020304" pitchFamily="18" charset="0"/>
              <a:cs typeface="Times New Roman" panose="02020603050405020304" pitchFamily="18" charset="0"/>
            </a:endParaRPr>
          </a:p>
          <a:p>
            <a:pPr marL="0" indent="0" algn="just" fontAlgn="base">
              <a:lnSpc>
                <a:spcPct val="160000"/>
              </a:lnSpc>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B647068-2078-3BF6-289C-3432CF98B0D6}"/>
              </a:ext>
            </a:extLst>
          </p:cNvPr>
          <p:cNvSpPr>
            <a:spLocks noGrp="1"/>
          </p:cNvSpPr>
          <p:nvPr>
            <p:ph type="sldNum" sz="quarter" idx="12"/>
          </p:nvPr>
        </p:nvSpPr>
        <p:spPr/>
        <p:txBody>
          <a:bodyPr/>
          <a:lstStyle/>
          <a:p>
            <a:fld id="{DC2A8C5E-5ACC-4DAB-B41C-5718F8C58B6D}" type="slidenum">
              <a:rPr lang="en-US" smtClean="0"/>
              <a:pPr/>
              <a:t>13</a:t>
            </a:fld>
            <a:endParaRPr lang="en-US" dirty="0"/>
          </a:p>
        </p:txBody>
      </p:sp>
    </p:spTree>
    <p:extLst>
      <p:ext uri="{BB962C8B-B14F-4D97-AF65-F5344CB8AC3E}">
        <p14:creationId xmlns:p14="http://schemas.microsoft.com/office/powerpoint/2010/main" val="100038931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Functionalities </a:t>
            </a:r>
            <a:r>
              <a:rPr kumimoji="1" lang="en-US" sz="24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400" dirty="0"/>
          </a:p>
        </p:txBody>
      </p:sp>
      <p:sp>
        <p:nvSpPr>
          <p:cNvPr id="3" name="Content Placeholder 2"/>
          <p:cNvSpPr>
            <a:spLocks noGrp="1"/>
          </p:cNvSpPr>
          <p:nvPr>
            <p:ph idx="1"/>
          </p:nvPr>
        </p:nvSpPr>
        <p:spPr>
          <a:xfrm>
            <a:off x="457200" y="1600199"/>
            <a:ext cx="8229600" cy="5121275"/>
          </a:xfrm>
        </p:spPr>
        <p:txBody>
          <a:bodyPr>
            <a:normAutofit/>
          </a:bodyPr>
          <a:lstStyle/>
          <a:p>
            <a:pPr marL="0" indent="0" algn="just" fontAlgn="base">
              <a:lnSpc>
                <a:spcPct val="150000"/>
              </a:lnSpc>
              <a:buNone/>
            </a:pPr>
            <a:r>
              <a:rPr lang="en-US" sz="2000" b="1" dirty="0">
                <a:latin typeface="Times New Roman" panose="02020603050405020304" pitchFamily="18" charset="0"/>
                <a:ea typeface="Tahoma" panose="020B0604030504040204" pitchFamily="34" charset="0"/>
                <a:cs typeface="Times New Roman" panose="02020603050405020304" pitchFamily="18" charset="0"/>
              </a:rPr>
              <a:t>Biometric Baseline Establishment</a:t>
            </a:r>
          </a:p>
          <a:p>
            <a:pPr algn="just" fontAlgn="base">
              <a:lnSpc>
                <a:spcPct val="150000"/>
              </a:lnSpc>
            </a:pPr>
            <a:r>
              <a:rPr lang="en-US" sz="2000" b="1" dirty="0">
                <a:latin typeface="Times New Roman" panose="02020603050405020304" pitchFamily="18" charset="0"/>
                <a:ea typeface="Tahoma" panose="020B0604030504040204" pitchFamily="34" charset="0"/>
                <a:cs typeface="Times New Roman" panose="02020603050405020304" pitchFamily="18" charset="0"/>
              </a:rPr>
              <a:t>FR12:</a:t>
            </a:r>
            <a:r>
              <a:rPr lang="en-US" sz="2000" dirty="0">
                <a:latin typeface="Times New Roman" panose="02020603050405020304" pitchFamily="18" charset="0"/>
                <a:ea typeface="Tahoma" panose="020B0604030504040204" pitchFamily="34" charset="0"/>
                <a:cs typeface="Times New Roman" panose="02020603050405020304" pitchFamily="18" charset="0"/>
              </a:rPr>
              <a:t>The system shall guide patient through structured calibration sequence for neutral joint positions</a:t>
            </a:r>
          </a:p>
          <a:p>
            <a:pPr algn="just" fontAlgn="base">
              <a:lnSpc>
                <a:spcPct val="150000"/>
              </a:lnSpc>
            </a:pPr>
            <a:r>
              <a:rPr lang="en-US" sz="2000" b="1" dirty="0">
                <a:latin typeface="Times New Roman" panose="02020603050405020304" pitchFamily="18" charset="0"/>
                <a:ea typeface="Tahoma" panose="020B0604030504040204" pitchFamily="34" charset="0"/>
                <a:cs typeface="Times New Roman" panose="02020603050405020304" pitchFamily="18" charset="0"/>
              </a:rPr>
              <a:t>FR13:</a:t>
            </a:r>
            <a:r>
              <a:rPr lang="en-US" sz="2000" dirty="0">
                <a:latin typeface="Times New Roman" panose="02020603050405020304" pitchFamily="18" charset="0"/>
                <a:ea typeface="Tahoma" panose="020B0604030504040204" pitchFamily="34" charset="0"/>
                <a:cs typeface="Times New Roman" panose="02020603050405020304" pitchFamily="18" charset="0"/>
              </a:rPr>
              <a:t> The system shall record resting EMG baselines for each monitored upper-arm muscle</a:t>
            </a:r>
          </a:p>
          <a:p>
            <a:pPr algn="just" fontAlgn="base">
              <a:lnSpc>
                <a:spcPct val="150000"/>
              </a:lnSpc>
            </a:pPr>
            <a:r>
              <a:rPr lang="en-US" sz="2000" b="1" dirty="0">
                <a:latin typeface="Times New Roman" panose="02020603050405020304" pitchFamily="18" charset="0"/>
                <a:ea typeface="Tahoma" panose="020B0604030504040204" pitchFamily="34" charset="0"/>
                <a:cs typeface="Times New Roman" panose="02020603050405020304" pitchFamily="18" charset="0"/>
              </a:rPr>
              <a:t>FR14:</a:t>
            </a:r>
            <a:r>
              <a:rPr lang="en-US" sz="2000" dirty="0">
                <a:latin typeface="Times New Roman" panose="02020603050405020304" pitchFamily="18" charset="0"/>
                <a:ea typeface="Tahoma" panose="020B0604030504040204" pitchFamily="34" charset="0"/>
                <a:cs typeface="Times New Roman" panose="02020603050405020304" pitchFamily="18" charset="0"/>
              </a:rPr>
              <a:t> The system shall preprocess IMU and EMG signals using filtering and normalization techniques.</a:t>
            </a:r>
          </a:p>
          <a:p>
            <a:pPr algn="just" fontAlgn="base">
              <a:lnSpc>
                <a:spcPct val="150000"/>
              </a:lnSpc>
            </a:pPr>
            <a:r>
              <a:rPr lang="en-US" sz="2000" b="1" dirty="0">
                <a:latin typeface="Times New Roman" panose="02020603050405020304" pitchFamily="18" charset="0"/>
                <a:ea typeface="Tahoma" panose="020B0604030504040204" pitchFamily="34" charset="0"/>
                <a:cs typeface="Times New Roman" panose="02020603050405020304" pitchFamily="18" charset="0"/>
              </a:rPr>
              <a:t>FR15:</a:t>
            </a:r>
            <a:r>
              <a:rPr lang="en-US" sz="2000" dirty="0">
                <a:latin typeface="Times New Roman" panose="02020603050405020304" pitchFamily="18" charset="0"/>
                <a:ea typeface="Tahoma" panose="020B0604030504040204" pitchFamily="34" charset="0"/>
                <a:cs typeface="Times New Roman" panose="02020603050405020304" pitchFamily="18" charset="0"/>
              </a:rPr>
              <a:t> The system shall combine sensor data to estimate upper-limb orientation, movement trajectory, and joint angles.</a:t>
            </a:r>
          </a:p>
          <a:p>
            <a:pPr marL="0" indent="0" algn="just" fontAlgn="base">
              <a:lnSpc>
                <a:spcPct val="150000"/>
              </a:lnSpc>
              <a:buNone/>
            </a:pPr>
            <a:endParaRPr lang="en-US" sz="2000" b="1" dirty="0">
              <a:latin typeface="Times New Roman" panose="02020603050405020304" pitchFamily="18" charset="0"/>
              <a:cs typeface="Times New Roman" panose="02020603050405020304" pitchFamily="18" charset="0"/>
            </a:endParaRPr>
          </a:p>
          <a:p>
            <a:pPr algn="just" fontAlgn="base">
              <a:lnSpc>
                <a:spcPct val="150000"/>
              </a:lnSpc>
            </a:pPr>
            <a:endParaRPr lang="en-US" sz="2200" dirty="0">
              <a:latin typeface="Times New Roman" panose="02020603050405020304" pitchFamily="18" charset="0"/>
              <a:cs typeface="Times New Roman" panose="02020603050405020304" pitchFamily="18" charset="0"/>
            </a:endParaRPr>
          </a:p>
          <a:p>
            <a:pPr marL="0" indent="0" algn="just" fontAlgn="base">
              <a:lnSpc>
                <a:spcPct val="160000"/>
              </a:lnSpc>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pPr/>
              <a:t>14</a:t>
            </a:fld>
            <a:endParaRPr lang="en-US" dirty="0"/>
          </a:p>
        </p:txBody>
      </p:sp>
    </p:spTree>
    <p:extLst>
      <p:ext uri="{BB962C8B-B14F-4D97-AF65-F5344CB8AC3E}">
        <p14:creationId xmlns:p14="http://schemas.microsoft.com/office/powerpoint/2010/main" val="10554805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4A981-5D37-CDEF-A0A0-D5F649E06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80210-A4CA-7898-E116-4DC7699E3350}"/>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Functionalities </a:t>
            </a:r>
            <a:r>
              <a:rPr kumimoji="1" lang="en-US" sz="24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400" dirty="0"/>
          </a:p>
        </p:txBody>
      </p:sp>
      <p:sp>
        <p:nvSpPr>
          <p:cNvPr id="3" name="Content Placeholder 2">
            <a:extLst>
              <a:ext uri="{FF2B5EF4-FFF2-40B4-BE49-F238E27FC236}">
                <a16:creationId xmlns:a16="http://schemas.microsoft.com/office/drawing/2014/main" id="{AB8217AB-40A2-239D-1C94-25D5F33FB779}"/>
              </a:ext>
            </a:extLst>
          </p:cNvPr>
          <p:cNvSpPr>
            <a:spLocks noGrp="1"/>
          </p:cNvSpPr>
          <p:nvPr>
            <p:ph idx="1"/>
          </p:nvPr>
        </p:nvSpPr>
        <p:spPr>
          <a:xfrm>
            <a:off x="457201" y="1524000"/>
            <a:ext cx="8229600" cy="4953000"/>
          </a:xfrm>
        </p:spPr>
        <p:txBody>
          <a:bodyPr>
            <a:normAutofit fontScale="92500"/>
          </a:bodyPr>
          <a:lstStyle/>
          <a:p>
            <a:pPr marL="0" indent="0" algn="just" fontAlgn="base">
              <a:lnSpc>
                <a:spcPct val="150000"/>
              </a:lnSpc>
              <a:buNone/>
            </a:pPr>
            <a:r>
              <a:rPr lang="en-US" sz="2000" b="1" dirty="0">
                <a:latin typeface="Times New Roman" panose="02020603050405020304" pitchFamily="18" charset="0"/>
                <a:cs typeface="Times New Roman" panose="02020603050405020304" pitchFamily="18" charset="0"/>
              </a:rPr>
              <a:t>Movement Tracking and Progress Measurement</a:t>
            </a:r>
          </a:p>
          <a:p>
            <a:pPr algn="just" fontAlgn="base">
              <a:lnSpc>
                <a:spcPct val="150000"/>
              </a:lnSpc>
            </a:pPr>
            <a:r>
              <a:rPr lang="en-US" sz="2000" b="1" dirty="0">
                <a:latin typeface="Times New Roman" panose="02020603050405020304" pitchFamily="18" charset="0"/>
                <a:cs typeface="Times New Roman" panose="02020603050405020304" pitchFamily="18" charset="0"/>
              </a:rPr>
              <a:t>FR16: </a:t>
            </a:r>
            <a:r>
              <a:rPr lang="en-US" sz="2000" dirty="0">
                <a:latin typeface="Times New Roman" panose="02020603050405020304" pitchFamily="18" charset="0"/>
                <a:cs typeface="Times New Roman" panose="02020603050405020304" pitchFamily="18" charset="0"/>
              </a:rPr>
              <a:t>The system shall track shoulder and elbow joint movements in real time.</a:t>
            </a:r>
          </a:p>
          <a:p>
            <a:pPr algn="just" fontAlgn="base">
              <a:lnSpc>
                <a:spcPct val="150000"/>
              </a:lnSpc>
            </a:pPr>
            <a:r>
              <a:rPr lang="en-US" sz="2000" b="1" dirty="0">
                <a:latin typeface="Times New Roman" panose="02020603050405020304" pitchFamily="18" charset="0"/>
                <a:cs typeface="Times New Roman" panose="02020603050405020304" pitchFamily="18" charset="0"/>
              </a:rPr>
              <a:t>FR17:</a:t>
            </a:r>
            <a:r>
              <a:rPr lang="en-US" sz="2000" dirty="0">
                <a:latin typeface="Times New Roman" panose="02020603050405020304" pitchFamily="18" charset="0"/>
                <a:cs typeface="Times New Roman" panose="02020603050405020304" pitchFamily="18" charset="0"/>
              </a:rPr>
              <a:t> The system shall process and convert sensor data into stable elbow joint angle for comparison against physiotherapist-prescribed target ranges</a:t>
            </a:r>
          </a:p>
          <a:p>
            <a:pPr algn="just" fontAlgn="base">
              <a:lnSpc>
                <a:spcPct val="150000"/>
              </a:lnSpc>
            </a:pPr>
            <a:r>
              <a:rPr lang="en-US" sz="2000" b="1" dirty="0">
                <a:latin typeface="Times New Roman" panose="02020603050405020304" pitchFamily="18" charset="0"/>
                <a:cs typeface="Times New Roman" panose="02020603050405020304" pitchFamily="18" charset="0"/>
              </a:rPr>
              <a:t>FR18:</a:t>
            </a:r>
            <a:r>
              <a:rPr lang="en-US" sz="2000" dirty="0">
                <a:latin typeface="Times New Roman" panose="02020603050405020304" pitchFamily="18" charset="0"/>
                <a:cs typeface="Times New Roman" panose="02020603050405020304" pitchFamily="18" charset="0"/>
              </a:rPr>
              <a:t> The system shall automatically count repetitions and detects rest intervals during exercise</a:t>
            </a:r>
          </a:p>
          <a:p>
            <a:pPr algn="just" fontAlgn="base">
              <a:lnSpc>
                <a:spcPct val="150000"/>
              </a:lnSpc>
            </a:pPr>
            <a:r>
              <a:rPr lang="en-US" sz="2000" b="1" dirty="0">
                <a:latin typeface="Times New Roman" panose="02020603050405020304" pitchFamily="18" charset="0"/>
                <a:cs typeface="Times New Roman" panose="02020603050405020304" pitchFamily="18" charset="0"/>
              </a:rPr>
              <a:t>FR19:</a:t>
            </a:r>
            <a:r>
              <a:rPr lang="en-US" sz="2000" dirty="0">
                <a:latin typeface="Times New Roman" panose="02020603050405020304" pitchFamily="18" charset="0"/>
                <a:cs typeface="Times New Roman" panose="02020603050405020304" pitchFamily="18" charset="0"/>
              </a:rPr>
              <a:t> The system shall estimate Range of Motion (ROM) progression throughout rehabilitation.</a:t>
            </a:r>
          </a:p>
          <a:p>
            <a:pPr algn="just" fontAlgn="base">
              <a:lnSpc>
                <a:spcPct val="150000"/>
              </a:lnSpc>
            </a:pPr>
            <a:r>
              <a:rPr lang="en-US" sz="2000" b="1" dirty="0">
                <a:latin typeface="Times New Roman" panose="02020603050405020304" pitchFamily="18" charset="0"/>
                <a:cs typeface="Times New Roman" panose="02020603050405020304" pitchFamily="18" charset="0"/>
              </a:rPr>
              <a:t>FR20:</a:t>
            </a:r>
            <a:r>
              <a:rPr lang="en-US" sz="2000" dirty="0">
                <a:latin typeface="Times New Roman" panose="02020603050405020304" pitchFamily="18" charset="0"/>
                <a:cs typeface="Times New Roman" panose="02020603050405020304" pitchFamily="18" charset="0"/>
              </a:rPr>
              <a:t> The system shall generate historical trend graphs showing ROM progression toward 100% goal</a:t>
            </a:r>
          </a:p>
          <a:p>
            <a:pPr marL="0" indent="0" algn="just" fontAlgn="base">
              <a:lnSpc>
                <a:spcPct val="150000"/>
              </a:lnSpc>
              <a:buNone/>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4E233E3-9F4A-D677-0926-E0D0423A492E}"/>
              </a:ext>
            </a:extLst>
          </p:cNvPr>
          <p:cNvSpPr>
            <a:spLocks noGrp="1"/>
          </p:cNvSpPr>
          <p:nvPr>
            <p:ph type="sldNum" sz="quarter" idx="12"/>
          </p:nvPr>
        </p:nvSpPr>
        <p:spPr/>
        <p:txBody>
          <a:bodyPr/>
          <a:lstStyle/>
          <a:p>
            <a:fld id="{DC2A8C5E-5ACC-4DAB-B41C-5718F8C58B6D}" type="slidenum">
              <a:rPr lang="en-US" smtClean="0"/>
              <a:pPr/>
              <a:t>15</a:t>
            </a:fld>
            <a:endParaRPr lang="en-US" dirty="0"/>
          </a:p>
        </p:txBody>
      </p:sp>
    </p:spTree>
    <p:extLst>
      <p:ext uri="{BB962C8B-B14F-4D97-AF65-F5344CB8AC3E}">
        <p14:creationId xmlns:p14="http://schemas.microsoft.com/office/powerpoint/2010/main" val="20582383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7E0EB-AC85-190A-FE4C-8C02A3939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B381C-44DD-9AC9-CC3C-C411892571A7}"/>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Functionalities </a:t>
            </a:r>
            <a:r>
              <a:rPr kumimoji="1" lang="en-US" sz="24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400" dirty="0"/>
          </a:p>
        </p:txBody>
      </p:sp>
      <p:sp>
        <p:nvSpPr>
          <p:cNvPr id="3" name="Content Placeholder 2">
            <a:extLst>
              <a:ext uri="{FF2B5EF4-FFF2-40B4-BE49-F238E27FC236}">
                <a16:creationId xmlns:a16="http://schemas.microsoft.com/office/drawing/2014/main" id="{227F837E-17D2-6ABF-CC6B-2D7F514F7108}"/>
              </a:ext>
            </a:extLst>
          </p:cNvPr>
          <p:cNvSpPr>
            <a:spLocks noGrp="1"/>
          </p:cNvSpPr>
          <p:nvPr>
            <p:ph idx="1"/>
          </p:nvPr>
        </p:nvSpPr>
        <p:spPr>
          <a:xfrm>
            <a:off x="457201" y="1600200"/>
            <a:ext cx="8077200" cy="5257800"/>
          </a:xfrm>
        </p:spPr>
        <p:txBody>
          <a:bodyPr>
            <a:normAutofit/>
          </a:bodyPr>
          <a:lstStyle/>
          <a:p>
            <a:pPr marL="0" indent="0" algn="just" fontAlgn="base">
              <a:lnSpc>
                <a:spcPct val="150000"/>
              </a:lnSpc>
              <a:buNone/>
            </a:pPr>
            <a:r>
              <a:rPr lang="en-US" sz="2000" b="1" dirty="0">
                <a:latin typeface="Times New Roman" panose="02020603050405020304" pitchFamily="18" charset="0"/>
                <a:cs typeface="Times New Roman" panose="02020603050405020304" pitchFamily="18" charset="0"/>
              </a:rPr>
              <a:t>Live Digital Twin Visualization</a:t>
            </a:r>
          </a:p>
          <a:p>
            <a:pPr algn="just" fontAlgn="base">
              <a:lnSpc>
                <a:spcPct val="150000"/>
              </a:lnSpc>
            </a:pPr>
            <a:r>
              <a:rPr lang="en-US" sz="2000" b="1" dirty="0">
                <a:latin typeface="Times New Roman" panose="02020603050405020304" pitchFamily="18" charset="0"/>
                <a:cs typeface="Times New Roman" panose="02020603050405020304" pitchFamily="18" charset="0"/>
              </a:rPr>
              <a:t>FR21: </a:t>
            </a:r>
            <a:r>
              <a:rPr lang="en-US" sz="2000" dirty="0">
                <a:latin typeface="Times New Roman" panose="02020603050405020304" pitchFamily="18" charset="0"/>
                <a:cs typeface="Times New Roman" panose="02020603050405020304" pitchFamily="18" charset="0"/>
              </a:rPr>
              <a:t>The system shall render real-time 3D model of patient's upper arm (shoulder, upper arm, elbow) </a:t>
            </a:r>
          </a:p>
          <a:p>
            <a:pPr algn="just" fontAlgn="base">
              <a:lnSpc>
                <a:spcPct val="150000"/>
              </a:lnSpc>
            </a:pPr>
            <a:r>
              <a:rPr lang="en-US" sz="2000" b="1" dirty="0">
                <a:latin typeface="Times New Roman" panose="02020603050405020304" pitchFamily="18" charset="0"/>
                <a:cs typeface="Times New Roman" panose="02020603050405020304" pitchFamily="18" charset="0"/>
              </a:rPr>
              <a:t>FR22:</a:t>
            </a:r>
            <a:r>
              <a:rPr lang="en-US" sz="2000" dirty="0">
                <a:latin typeface="Times New Roman" panose="02020603050405020304" pitchFamily="18" charset="0"/>
                <a:cs typeface="Times New Roman" panose="02020603050405020304" pitchFamily="18" charset="0"/>
              </a:rPr>
              <a:t> The system shall display muscle activation via color palette: blue, green, orange, red</a:t>
            </a:r>
          </a:p>
          <a:p>
            <a:pPr algn="just" fontAlgn="base">
              <a:lnSpc>
                <a:spcPct val="150000"/>
              </a:lnSpc>
            </a:pPr>
            <a:r>
              <a:rPr lang="en-US" sz="2000" b="1" dirty="0">
                <a:latin typeface="Times New Roman" panose="02020603050405020304" pitchFamily="18" charset="0"/>
                <a:cs typeface="Times New Roman" panose="02020603050405020304" pitchFamily="18" charset="0"/>
              </a:rPr>
              <a:t>FR23:</a:t>
            </a:r>
            <a:r>
              <a:rPr lang="en-US" sz="2000" dirty="0">
                <a:latin typeface="Times New Roman" panose="02020603050405020304" pitchFamily="18" charset="0"/>
                <a:cs typeface="Times New Roman" panose="02020603050405020304" pitchFamily="18" charset="0"/>
              </a:rPr>
              <a:t> The system shall highlight incorrect posture or abnormal movement patterns using visual alerts.</a:t>
            </a:r>
          </a:p>
          <a:p>
            <a:pPr algn="just" fontAlgn="base">
              <a:lnSpc>
                <a:spcPct val="150000"/>
              </a:lnSpc>
            </a:pPr>
            <a:endParaRPr lang="en-US" sz="2000" dirty="0">
              <a:latin typeface="Times New Roman" panose="02020603050405020304" pitchFamily="18" charset="0"/>
              <a:cs typeface="Times New Roman" panose="02020603050405020304" pitchFamily="18" charset="0"/>
            </a:endParaRPr>
          </a:p>
          <a:p>
            <a:pPr marL="0" indent="0" algn="just" fontAlgn="base">
              <a:lnSpc>
                <a:spcPct val="150000"/>
              </a:lnSpc>
              <a:buNone/>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916D1CA-C3D2-4A7F-8EC9-68AF54E5AB45}"/>
              </a:ext>
            </a:extLst>
          </p:cNvPr>
          <p:cNvSpPr>
            <a:spLocks noGrp="1"/>
          </p:cNvSpPr>
          <p:nvPr>
            <p:ph type="sldNum" sz="quarter" idx="12"/>
          </p:nvPr>
        </p:nvSpPr>
        <p:spPr/>
        <p:txBody>
          <a:bodyPr/>
          <a:lstStyle/>
          <a:p>
            <a:fld id="{DC2A8C5E-5ACC-4DAB-B41C-5718F8C58B6D}" type="slidenum">
              <a:rPr lang="en-US" smtClean="0"/>
              <a:pPr/>
              <a:t>16</a:t>
            </a:fld>
            <a:endParaRPr lang="en-US" dirty="0"/>
          </a:p>
        </p:txBody>
      </p:sp>
    </p:spTree>
    <p:extLst>
      <p:ext uri="{BB962C8B-B14F-4D97-AF65-F5344CB8AC3E}">
        <p14:creationId xmlns:p14="http://schemas.microsoft.com/office/powerpoint/2010/main" val="36853421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15364-EB3D-BCB1-6016-EBDBFB6BD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4E79C-9621-9A3D-8784-11D4A161BE70}"/>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Functionalities </a:t>
            </a:r>
            <a:r>
              <a:rPr kumimoji="1" lang="en-US" sz="24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400" dirty="0"/>
          </a:p>
        </p:txBody>
      </p:sp>
      <p:sp>
        <p:nvSpPr>
          <p:cNvPr id="3" name="Content Placeholder 2">
            <a:extLst>
              <a:ext uri="{FF2B5EF4-FFF2-40B4-BE49-F238E27FC236}">
                <a16:creationId xmlns:a16="http://schemas.microsoft.com/office/drawing/2014/main" id="{389C871B-5029-24F9-F41A-80CB78BC4671}"/>
              </a:ext>
            </a:extLst>
          </p:cNvPr>
          <p:cNvSpPr>
            <a:spLocks noGrp="1"/>
          </p:cNvSpPr>
          <p:nvPr>
            <p:ph idx="1"/>
          </p:nvPr>
        </p:nvSpPr>
        <p:spPr>
          <a:xfrm>
            <a:off x="457200" y="1676400"/>
            <a:ext cx="8229600" cy="4906961"/>
          </a:xfrm>
        </p:spPr>
        <p:txBody>
          <a:bodyPr>
            <a:normAutofit/>
          </a:bodyPr>
          <a:lstStyle/>
          <a:p>
            <a:pPr marL="0" indent="0" algn="just" fontAlgn="base">
              <a:lnSpc>
                <a:spcPct val="150000"/>
              </a:lnSpc>
              <a:buNone/>
            </a:pPr>
            <a:r>
              <a:rPr lang="en-US" sz="2000" b="1" dirty="0">
                <a:latin typeface="Times New Roman" panose="02020603050405020304" pitchFamily="18" charset="0"/>
                <a:cs typeface="Times New Roman" panose="02020603050405020304" pitchFamily="18" charset="0"/>
              </a:rPr>
              <a:t>Movement Quality Assessment and Corrective Alert System</a:t>
            </a:r>
          </a:p>
          <a:p>
            <a:pPr algn="just" fontAlgn="base">
              <a:lnSpc>
                <a:spcPct val="150000"/>
              </a:lnSpc>
            </a:pPr>
            <a:r>
              <a:rPr lang="en-US" sz="2000" b="1" dirty="0">
                <a:latin typeface="Times New Roman" panose="02020603050405020304" pitchFamily="18" charset="0"/>
                <a:cs typeface="Times New Roman" panose="02020603050405020304" pitchFamily="18" charset="0"/>
              </a:rPr>
              <a:t>FR24:</a:t>
            </a:r>
            <a:r>
              <a:rPr lang="en-US" sz="2000" dirty="0">
                <a:latin typeface="Times New Roman" panose="02020603050405020304" pitchFamily="18" charset="0"/>
                <a:cs typeface="Times New Roman" panose="02020603050405020304" pitchFamily="18" charset="0"/>
              </a:rPr>
              <a:t> The system shall detect abnormal movement patterns via an AI-based analyses</a:t>
            </a:r>
          </a:p>
          <a:p>
            <a:pPr algn="just" fontAlgn="base">
              <a:lnSpc>
                <a:spcPct val="150000"/>
              </a:lnSpc>
            </a:pPr>
            <a:r>
              <a:rPr lang="en-US" sz="2000" b="1" dirty="0">
                <a:latin typeface="Times New Roman" panose="02020603050405020304" pitchFamily="18" charset="0"/>
                <a:cs typeface="Times New Roman" panose="02020603050405020304" pitchFamily="18" charset="0"/>
              </a:rPr>
              <a:t>FR25: </a:t>
            </a:r>
            <a:r>
              <a:rPr lang="en-US" sz="2000" dirty="0">
                <a:latin typeface="Times New Roman" panose="02020603050405020304" pitchFamily="18" charset="0"/>
                <a:cs typeface="Times New Roman" panose="02020603050405020304" pitchFamily="18" charset="0"/>
              </a:rPr>
              <a:t>The system shall provide real-time visual feedback during rehabilitation exercises</a:t>
            </a:r>
          </a:p>
          <a:p>
            <a:pPr algn="just" fontAlgn="base">
              <a:lnSpc>
                <a:spcPct val="150000"/>
              </a:lnSpc>
            </a:pPr>
            <a:r>
              <a:rPr lang="en-US" sz="2000" b="1" dirty="0">
                <a:latin typeface="Times New Roman" panose="02020603050405020304" pitchFamily="18" charset="0"/>
                <a:cs typeface="Times New Roman" panose="02020603050405020304" pitchFamily="18" charset="0"/>
              </a:rPr>
              <a:t>FR26:</a:t>
            </a:r>
            <a:r>
              <a:rPr lang="en-US" sz="2000" dirty="0">
                <a:latin typeface="Times New Roman" panose="02020603050405020304" pitchFamily="18" charset="0"/>
                <a:cs typeface="Times New Roman" panose="02020603050405020304" pitchFamily="18" charset="0"/>
              </a:rPr>
              <a:t> The system shall provide real-time voice guidance and corrective alerts, preferably in Urdu.</a:t>
            </a:r>
          </a:p>
          <a:p>
            <a:pPr algn="just" fontAlgn="base">
              <a:lnSpc>
                <a:spcPct val="150000"/>
              </a:lnSpc>
            </a:pPr>
            <a:r>
              <a:rPr lang="en-US" sz="2000" b="1" dirty="0">
                <a:latin typeface="Times New Roman" panose="02020603050405020304" pitchFamily="18" charset="0"/>
                <a:cs typeface="Times New Roman" panose="02020603050405020304" pitchFamily="18" charset="0"/>
              </a:rPr>
              <a:t>FR27:</a:t>
            </a:r>
            <a:r>
              <a:rPr lang="en-US" sz="2000" dirty="0">
                <a:latin typeface="Times New Roman" panose="02020603050405020304" pitchFamily="18" charset="0"/>
                <a:cs typeface="Times New Roman" panose="02020603050405020304" pitchFamily="18" charset="0"/>
              </a:rPr>
              <a:t> The system shall log all anomaly and compensation events for physiotherapist dashboard review</a:t>
            </a:r>
          </a:p>
          <a:p>
            <a:pPr marL="0" indent="0" algn="just" fontAlgn="base">
              <a:lnSpc>
                <a:spcPct val="150000"/>
              </a:lnSpc>
              <a:buNone/>
            </a:pPr>
            <a:endParaRPr lang="en-US" sz="2000" dirty="0">
              <a:latin typeface="Times New Roman" panose="02020603050405020304" pitchFamily="18" charset="0"/>
              <a:cs typeface="Times New Roman" panose="02020603050405020304" pitchFamily="18" charset="0"/>
            </a:endParaRPr>
          </a:p>
          <a:p>
            <a:pPr marL="0" indent="0" algn="just" fontAlgn="base">
              <a:lnSpc>
                <a:spcPct val="150000"/>
              </a:lnSpc>
              <a:buNone/>
            </a:pPr>
            <a:endParaRPr lang="en-US" sz="2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AEBCB45-93AE-CF54-7166-7C06158BCE34}"/>
              </a:ext>
            </a:extLst>
          </p:cNvPr>
          <p:cNvSpPr>
            <a:spLocks noGrp="1"/>
          </p:cNvSpPr>
          <p:nvPr>
            <p:ph type="sldNum" sz="quarter" idx="12"/>
          </p:nvPr>
        </p:nvSpPr>
        <p:spPr/>
        <p:txBody>
          <a:bodyPr/>
          <a:lstStyle/>
          <a:p>
            <a:fld id="{DC2A8C5E-5ACC-4DAB-B41C-5718F8C58B6D}" type="slidenum">
              <a:rPr lang="en-US" smtClean="0"/>
              <a:pPr/>
              <a:t>17</a:t>
            </a:fld>
            <a:endParaRPr lang="en-US" dirty="0"/>
          </a:p>
        </p:txBody>
      </p:sp>
    </p:spTree>
    <p:extLst>
      <p:ext uri="{BB962C8B-B14F-4D97-AF65-F5344CB8AC3E}">
        <p14:creationId xmlns:p14="http://schemas.microsoft.com/office/powerpoint/2010/main" val="418975455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5DD01-B8BE-2F7B-7190-00A77379E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41F6DF-48DD-64A8-0643-35534F4CCD35}"/>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Functionalities </a:t>
            </a:r>
            <a:r>
              <a:rPr kumimoji="1" lang="en-US" sz="24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400" dirty="0"/>
          </a:p>
        </p:txBody>
      </p:sp>
      <p:sp>
        <p:nvSpPr>
          <p:cNvPr id="3" name="Content Placeholder 2">
            <a:extLst>
              <a:ext uri="{FF2B5EF4-FFF2-40B4-BE49-F238E27FC236}">
                <a16:creationId xmlns:a16="http://schemas.microsoft.com/office/drawing/2014/main" id="{381B9387-1655-D0F8-AB2B-CC15491DCF91}"/>
              </a:ext>
            </a:extLst>
          </p:cNvPr>
          <p:cNvSpPr>
            <a:spLocks noGrp="1"/>
          </p:cNvSpPr>
          <p:nvPr>
            <p:ph idx="1"/>
          </p:nvPr>
        </p:nvSpPr>
        <p:spPr>
          <a:xfrm>
            <a:off x="457200" y="1600200"/>
            <a:ext cx="8458200" cy="5121274"/>
          </a:xfrm>
        </p:spPr>
        <p:txBody>
          <a:bodyPr>
            <a:normAutofit/>
          </a:bodyPr>
          <a:lstStyle/>
          <a:p>
            <a:pPr marL="0" indent="0" algn="just" fontAlgn="base">
              <a:lnSpc>
                <a:spcPct val="150000"/>
              </a:lnSpc>
              <a:buNone/>
            </a:pPr>
            <a:r>
              <a:rPr lang="en-US" sz="2000" b="1" dirty="0">
                <a:latin typeface="Times New Roman" panose="02020603050405020304" pitchFamily="18" charset="0"/>
                <a:ea typeface="Tahoma" panose="020B0604030504040204" pitchFamily="34" charset="0"/>
                <a:cs typeface="Times New Roman" panose="02020603050405020304" pitchFamily="18" charset="0"/>
              </a:rPr>
              <a:t>Fatigue Monitoring and Safety Intervention</a:t>
            </a:r>
          </a:p>
          <a:p>
            <a:pPr algn="just" fontAlgn="base">
              <a:lnSpc>
                <a:spcPct val="150000"/>
              </a:lnSpc>
            </a:pPr>
            <a:r>
              <a:rPr lang="en-US" sz="2000" b="1" dirty="0">
                <a:latin typeface="Times New Roman" panose="02020603050405020304" pitchFamily="18" charset="0"/>
                <a:ea typeface="Tahoma" panose="020B0604030504040204" pitchFamily="34" charset="0"/>
                <a:cs typeface="Times New Roman" panose="02020603050405020304" pitchFamily="18" charset="0"/>
              </a:rPr>
              <a:t>FR28:</a:t>
            </a:r>
            <a:r>
              <a:rPr lang="en-US" sz="2000" dirty="0">
                <a:latin typeface="Times New Roman" panose="02020603050405020304" pitchFamily="18" charset="0"/>
                <a:ea typeface="Tahoma" panose="020B0604030504040204" pitchFamily="34" charset="0"/>
                <a:cs typeface="Times New Roman" panose="02020603050405020304" pitchFamily="18" charset="0"/>
              </a:rPr>
              <a:t> The system shall track muscle fatigue indicators against patient-specific calibration baselines</a:t>
            </a:r>
          </a:p>
          <a:p>
            <a:pPr algn="just" fontAlgn="base">
              <a:lnSpc>
                <a:spcPct val="150000"/>
              </a:lnSpc>
            </a:pPr>
            <a:r>
              <a:rPr lang="en-US" sz="2000" b="1" dirty="0">
                <a:latin typeface="Times New Roman" panose="02020603050405020304" pitchFamily="18" charset="0"/>
                <a:ea typeface="Tahoma" panose="020B0604030504040204" pitchFamily="34" charset="0"/>
                <a:cs typeface="Times New Roman" panose="02020603050405020304" pitchFamily="18" charset="0"/>
              </a:rPr>
              <a:t>FR29:</a:t>
            </a:r>
            <a:r>
              <a:rPr lang="en-US" sz="2000" dirty="0">
                <a:latin typeface="Times New Roman" panose="02020603050405020304" pitchFamily="18" charset="0"/>
                <a:ea typeface="Tahoma" panose="020B0604030504040204" pitchFamily="34" charset="0"/>
                <a:cs typeface="Times New Roman" panose="02020603050405020304" pitchFamily="18" charset="0"/>
              </a:rPr>
              <a:t> The system shall issue graded three-stage warnings: UI indicator, voice alert, session pause recommendation</a:t>
            </a:r>
          </a:p>
          <a:p>
            <a:pPr algn="just" fontAlgn="base">
              <a:lnSpc>
                <a:spcPct val="150000"/>
              </a:lnSpc>
            </a:pPr>
            <a:endParaRPr lang="en-US" sz="2000" dirty="0">
              <a:latin typeface="Times New Roman" panose="02020603050405020304" pitchFamily="18" charset="0"/>
              <a:cs typeface="Times New Roman" panose="02020603050405020304" pitchFamily="18" charset="0"/>
            </a:endParaRPr>
          </a:p>
          <a:p>
            <a:pPr marL="0" indent="0" algn="just" fontAlgn="base">
              <a:lnSpc>
                <a:spcPct val="150000"/>
              </a:lnSpc>
              <a:buNone/>
            </a:pPr>
            <a:endParaRPr lang="en-US" sz="20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D315157-D864-C73D-9292-B1FDE9BBA96B}"/>
              </a:ext>
            </a:extLst>
          </p:cNvPr>
          <p:cNvSpPr>
            <a:spLocks noGrp="1"/>
          </p:cNvSpPr>
          <p:nvPr>
            <p:ph type="sldNum" sz="quarter" idx="12"/>
          </p:nvPr>
        </p:nvSpPr>
        <p:spPr/>
        <p:txBody>
          <a:bodyPr/>
          <a:lstStyle/>
          <a:p>
            <a:fld id="{DC2A8C5E-5ACC-4DAB-B41C-5718F8C58B6D}" type="slidenum">
              <a:rPr lang="en-US" smtClean="0"/>
              <a:pPr/>
              <a:t>18</a:t>
            </a:fld>
            <a:endParaRPr lang="en-US" dirty="0"/>
          </a:p>
        </p:txBody>
      </p:sp>
    </p:spTree>
    <p:extLst>
      <p:ext uri="{BB962C8B-B14F-4D97-AF65-F5344CB8AC3E}">
        <p14:creationId xmlns:p14="http://schemas.microsoft.com/office/powerpoint/2010/main" val="33152292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F1800-8B32-6412-3559-539D317F3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B78F7-6CD7-2E47-39FA-A6DE9825B2F0}"/>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Functionalities </a:t>
            </a:r>
            <a:r>
              <a:rPr kumimoji="1" lang="en-US" sz="2400" dirty="0">
                <a:latin typeface="Times New Roman" panose="02020603050405020304" pitchFamily="18" charset="0"/>
                <a:ea typeface="Tahoma" panose="020B0604030504040204" pitchFamily="34" charset="0"/>
                <a:cs typeface="Times New Roman" panose="02020603050405020304" pitchFamily="18" charset="0"/>
              </a:rPr>
              <a:t>(cont’d)</a:t>
            </a:r>
            <a:endParaRPr lang="en-US" sz="2400" dirty="0"/>
          </a:p>
        </p:txBody>
      </p:sp>
      <p:sp>
        <p:nvSpPr>
          <p:cNvPr id="3" name="Content Placeholder 2">
            <a:extLst>
              <a:ext uri="{FF2B5EF4-FFF2-40B4-BE49-F238E27FC236}">
                <a16:creationId xmlns:a16="http://schemas.microsoft.com/office/drawing/2014/main" id="{200A4A4C-5C37-A531-26E5-8A3B0C673C3F}"/>
              </a:ext>
            </a:extLst>
          </p:cNvPr>
          <p:cNvSpPr>
            <a:spLocks noGrp="1"/>
          </p:cNvSpPr>
          <p:nvPr>
            <p:ph idx="1"/>
          </p:nvPr>
        </p:nvSpPr>
        <p:spPr>
          <a:xfrm>
            <a:off x="533400" y="1600200"/>
            <a:ext cx="8229600" cy="5121274"/>
          </a:xfrm>
        </p:spPr>
        <p:txBody>
          <a:bodyPr>
            <a:normAutofit/>
          </a:bodyPr>
          <a:lstStyle/>
          <a:p>
            <a:pPr marL="0" indent="0" algn="just" fontAlgn="base">
              <a:lnSpc>
                <a:spcPct val="150000"/>
              </a:lnSpc>
              <a:buNone/>
            </a:pPr>
            <a:r>
              <a:rPr lang="en-US" sz="2000" b="1" dirty="0">
                <a:latin typeface="Times New Roman" panose="02020603050405020304" pitchFamily="18" charset="0"/>
                <a:cs typeface="Times New Roman" panose="02020603050405020304" pitchFamily="18" charset="0"/>
              </a:rPr>
              <a:t>Physiotherapist Control Center and Cloud Sync</a:t>
            </a:r>
          </a:p>
          <a:p>
            <a:pPr algn="just" fontAlgn="base">
              <a:lnSpc>
                <a:spcPct val="150000"/>
              </a:lnSpc>
            </a:pPr>
            <a:r>
              <a:rPr lang="en-US" sz="2000" b="1" dirty="0">
                <a:latin typeface="Times New Roman" panose="02020603050405020304" pitchFamily="18" charset="0"/>
                <a:cs typeface="Times New Roman" panose="02020603050405020304" pitchFamily="18" charset="0"/>
              </a:rPr>
              <a:t>FR30: </a:t>
            </a:r>
            <a:r>
              <a:rPr lang="en-US" sz="2000" dirty="0">
                <a:latin typeface="Times New Roman" panose="02020603050405020304" pitchFamily="18" charset="0"/>
                <a:cs typeface="Times New Roman" panose="02020603050405020304" pitchFamily="18" charset="0"/>
              </a:rPr>
              <a:t>The system shall have a web-based clinic panel limited to adding appointed physiotherapists</a:t>
            </a:r>
          </a:p>
          <a:p>
            <a:pPr algn="just" fontAlgn="base">
              <a:lnSpc>
                <a:spcPct val="150000"/>
              </a:lnSpc>
            </a:pPr>
            <a:r>
              <a:rPr lang="en-US" sz="2000" b="1" dirty="0">
                <a:latin typeface="Times New Roman" panose="02020603050405020304" pitchFamily="18" charset="0"/>
                <a:cs typeface="Times New Roman" panose="02020603050405020304" pitchFamily="18" charset="0"/>
              </a:rPr>
              <a:t>FR31:</a:t>
            </a:r>
            <a:r>
              <a:rPr lang="en-US" sz="2000" dirty="0">
                <a:latin typeface="Times New Roman" panose="02020603050405020304" pitchFamily="18" charset="0"/>
                <a:cs typeface="Times New Roman" panose="02020603050405020304" pitchFamily="18" charset="0"/>
              </a:rPr>
              <a:t> The system shall have a web-based physiotherapist dashboard showing patient adherence, performance, alerts, and ROM display on physiotherapist dashboard</a:t>
            </a:r>
          </a:p>
          <a:p>
            <a:pPr algn="just" fontAlgn="base">
              <a:lnSpc>
                <a:spcPct val="150000"/>
              </a:lnSpc>
            </a:pPr>
            <a:r>
              <a:rPr lang="en-US" sz="2000" b="1" dirty="0">
                <a:latin typeface="Times New Roman" panose="02020603050405020304" pitchFamily="18" charset="0"/>
                <a:cs typeface="Times New Roman" panose="02020603050405020304" pitchFamily="18" charset="0"/>
              </a:rPr>
              <a:t>FR32:</a:t>
            </a:r>
            <a:r>
              <a:rPr lang="en-US" sz="2000" dirty="0">
                <a:latin typeface="Times New Roman" panose="02020603050405020304" pitchFamily="18" charset="0"/>
                <a:cs typeface="Times New Roman" panose="02020603050405020304" pitchFamily="18" charset="0"/>
              </a:rPr>
              <a:t> The system shall allow prescription creation, modification, ROM target approval on the physiotherapist dashboard</a:t>
            </a:r>
          </a:p>
          <a:p>
            <a:pPr algn="just" fontAlgn="base">
              <a:lnSpc>
                <a:spcPct val="150000"/>
              </a:lnSpc>
            </a:pPr>
            <a:r>
              <a:rPr lang="en-US" sz="2000" b="1" dirty="0">
                <a:latin typeface="Times New Roman" panose="02020603050405020304" pitchFamily="18" charset="0"/>
                <a:cs typeface="Times New Roman" panose="02020603050405020304" pitchFamily="18" charset="0"/>
              </a:rPr>
              <a:t>FR33:</a:t>
            </a:r>
            <a:r>
              <a:rPr lang="en-US" sz="2000" dirty="0">
                <a:latin typeface="Times New Roman" panose="02020603050405020304" pitchFamily="18" charset="0"/>
                <a:cs typeface="Times New Roman" panose="02020603050405020304" pitchFamily="18" charset="0"/>
              </a:rPr>
              <a:t> The system shall issue alert notifications for concerning patterns</a:t>
            </a:r>
          </a:p>
          <a:p>
            <a:pPr algn="just" fontAlgn="base">
              <a:lnSpc>
                <a:spcPct val="150000"/>
              </a:lnSpc>
            </a:pPr>
            <a:endParaRPr lang="en-US" sz="2000" dirty="0">
              <a:latin typeface="Times New Roman" panose="02020603050405020304" pitchFamily="18" charset="0"/>
              <a:cs typeface="Times New Roman" panose="02020603050405020304" pitchFamily="18" charset="0"/>
            </a:endParaRPr>
          </a:p>
          <a:p>
            <a:pPr marL="0" indent="0" algn="just" fontAlgn="base">
              <a:lnSpc>
                <a:spcPct val="150000"/>
              </a:lnSpc>
              <a:buNone/>
            </a:pPr>
            <a:endParaRPr lang="en-US" sz="20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01EEE93-CFA8-C099-9ED1-CA3B579CA896}"/>
              </a:ext>
            </a:extLst>
          </p:cNvPr>
          <p:cNvSpPr>
            <a:spLocks noGrp="1"/>
          </p:cNvSpPr>
          <p:nvPr>
            <p:ph type="sldNum" sz="quarter" idx="12"/>
          </p:nvPr>
        </p:nvSpPr>
        <p:spPr/>
        <p:txBody>
          <a:bodyPr/>
          <a:lstStyle/>
          <a:p>
            <a:fld id="{DC2A8C5E-5ACC-4DAB-B41C-5718F8C58B6D}" type="slidenum">
              <a:rPr lang="en-US" smtClean="0"/>
              <a:pPr/>
              <a:t>19</a:t>
            </a:fld>
            <a:endParaRPr lang="en-US" dirty="0"/>
          </a:p>
        </p:txBody>
      </p:sp>
    </p:spTree>
    <p:extLst>
      <p:ext uri="{BB962C8B-B14F-4D97-AF65-F5344CB8AC3E}">
        <p14:creationId xmlns:p14="http://schemas.microsoft.com/office/powerpoint/2010/main" val="14475808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Proposed Tools/Platform</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20</a:t>
            </a:fld>
            <a:endParaRPr lang="en-US">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1E30D9D5-C163-2CA2-9CB0-1411FC3499A1}"/>
              </a:ext>
            </a:extLst>
          </p:cNvPr>
          <p:cNvGraphicFramePr>
            <a:graphicFrameLocks noGrp="1"/>
          </p:cNvGraphicFramePr>
          <p:nvPr>
            <p:extLst>
              <p:ext uri="{D42A27DB-BD31-4B8C-83A1-F6EECF244321}">
                <p14:modId xmlns:p14="http://schemas.microsoft.com/office/powerpoint/2010/main" val="2328681486"/>
              </p:ext>
            </p:extLst>
          </p:nvPr>
        </p:nvGraphicFramePr>
        <p:xfrm>
          <a:off x="457200" y="1371600"/>
          <a:ext cx="8229600" cy="508589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414687745"/>
                    </a:ext>
                  </a:extLst>
                </a:gridCol>
                <a:gridCol w="2743200">
                  <a:extLst>
                    <a:ext uri="{9D8B030D-6E8A-4147-A177-3AD203B41FA5}">
                      <a16:colId xmlns:a16="http://schemas.microsoft.com/office/drawing/2014/main" val="1775277563"/>
                    </a:ext>
                  </a:extLst>
                </a:gridCol>
                <a:gridCol w="2743200">
                  <a:extLst>
                    <a:ext uri="{9D8B030D-6E8A-4147-A177-3AD203B41FA5}">
                      <a16:colId xmlns:a16="http://schemas.microsoft.com/office/drawing/2014/main" val="918227607"/>
                    </a:ext>
                  </a:extLst>
                </a:gridCol>
              </a:tblGrid>
              <a:tr h="413914">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Category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Tools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For/Purpose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2332027"/>
                  </a:ext>
                </a:extLst>
              </a:tr>
              <a:tr h="642214">
                <a:tc>
                  <a:txBody>
                    <a:bodyPr/>
                    <a:lstStyle/>
                    <a:p>
                      <a:pPr algn="just"/>
                      <a:r>
                        <a:rPr lang="en-US" sz="2000" b="0" dirty="0">
                          <a:latin typeface="Times New Roman" panose="02020603050405020304" pitchFamily="18" charset="0"/>
                          <a:cs typeface="Times New Roman" panose="02020603050405020304" pitchFamily="18" charset="0"/>
                        </a:rPr>
                        <a:t>Frontend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latin typeface="Times New Roman" panose="02020603050405020304" pitchFamily="18" charset="0"/>
                          <a:cs typeface="Times New Roman" panose="02020603050405020304" pitchFamily="18" charset="0"/>
                        </a:rPr>
                        <a:t>Flutter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latin typeface="Times New Roman" panose="02020603050405020304" pitchFamily="18" charset="0"/>
                          <a:cs typeface="Times New Roman" panose="02020603050405020304" pitchFamily="18" charset="0"/>
                        </a:rPr>
                        <a:t>Mobile App development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18938862"/>
                  </a:ext>
                </a:extLst>
              </a:tr>
              <a:tr h="642214">
                <a:tc>
                  <a:txBody>
                    <a:bodyPr/>
                    <a:lstStyle/>
                    <a:p>
                      <a:pPr algn="just"/>
                      <a:r>
                        <a:rPr lang="en-US" sz="2000" b="0" dirty="0">
                          <a:latin typeface="Times New Roman" panose="02020603050405020304" pitchFamily="18" charset="0"/>
                          <a:cs typeface="Times New Roman" panose="02020603050405020304" pitchFamily="18" charset="0"/>
                        </a:rPr>
                        <a:t>Backend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latin typeface="Times New Roman" panose="02020603050405020304" pitchFamily="18" charset="0"/>
                          <a:cs typeface="Times New Roman" panose="02020603050405020304" pitchFamily="18" charset="0"/>
                        </a:rPr>
                        <a:t>Node.js And Express.js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latin typeface="Times New Roman" panose="02020603050405020304" pitchFamily="18" charset="0"/>
                          <a:cs typeface="Times New Roman" panose="02020603050405020304" pitchFamily="18" charset="0"/>
                        </a:rPr>
                        <a:t>API + logic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48990312"/>
                  </a:ext>
                </a:extLst>
              </a:tr>
              <a:tr h="642214">
                <a:tc>
                  <a:txBody>
                    <a:bodyPr/>
                    <a:lstStyle/>
                    <a:p>
                      <a:pPr algn="just"/>
                      <a:r>
                        <a:rPr lang="en-US" sz="2000" b="0" dirty="0">
                          <a:latin typeface="Times New Roman" panose="02020603050405020304" pitchFamily="18" charset="0"/>
                          <a:cs typeface="Times New Roman" panose="02020603050405020304" pitchFamily="18" charset="0"/>
                        </a:rPr>
                        <a:t>Databases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PostgreSQL via </a:t>
                      </a:r>
                      <a:r>
                        <a:rPr lang="en-US" sz="2000" dirty="0" err="1">
                          <a:latin typeface="Times New Roman" panose="02020603050405020304" pitchFamily="18" charset="0"/>
                          <a:cs typeface="Times New Roman" panose="02020603050405020304" pitchFamily="18" charset="0"/>
                        </a:rPr>
                        <a:t>Supabase</a:t>
                      </a:r>
                      <a:r>
                        <a:rPr lang="en-US" sz="2000" dirty="0">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Structured + Cloud SQL 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3630897"/>
                  </a:ext>
                </a:extLst>
              </a:tr>
              <a:tr h="642214">
                <a:tc>
                  <a:txBody>
                    <a:bodyPr/>
                    <a:lstStyle/>
                    <a:p>
                      <a:pPr algn="just"/>
                      <a:r>
                        <a:rPr lang="en-US" sz="2000" b="0" dirty="0">
                          <a:latin typeface="Times New Roman" panose="02020603050405020304" pitchFamily="18" charset="0"/>
                          <a:cs typeface="Times New Roman" panose="02020603050405020304" pitchFamily="18" charset="0"/>
                        </a:rPr>
                        <a:t>Cloud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err="1">
                          <a:latin typeface="Times New Roman" panose="02020603050405020304" pitchFamily="18" charset="0"/>
                          <a:cs typeface="Times New Roman" panose="02020603050405020304" pitchFamily="18" charset="0"/>
                        </a:rPr>
                        <a:t>Supabase</a:t>
                      </a:r>
                      <a:endParaRPr 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latin typeface="Times New Roman" panose="02020603050405020304" pitchFamily="18" charset="0"/>
                          <a:cs typeface="Times New Roman" panose="02020603050405020304" pitchFamily="18" charset="0"/>
                        </a:rPr>
                        <a:t>Secure and Scalable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32051888"/>
                  </a:ext>
                </a:extLst>
              </a:tr>
              <a:tr h="642214">
                <a:tc>
                  <a:txBody>
                    <a:bodyPr/>
                    <a:lstStyle/>
                    <a:p>
                      <a:pPr algn="just"/>
                      <a:r>
                        <a:rPr lang="en-US" sz="2000" b="0" dirty="0">
                          <a:latin typeface="Times New Roman" panose="02020603050405020304" pitchFamily="18" charset="0"/>
                          <a:cs typeface="Times New Roman" panose="02020603050405020304" pitchFamily="18" charset="0"/>
                        </a:rPr>
                        <a:t>APIs /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latin typeface="Times New Roman" panose="02020603050405020304" pitchFamily="18" charset="0"/>
                          <a:cs typeface="Times New Roman" panose="02020603050405020304" pitchFamily="18" charset="0"/>
                        </a:rPr>
                        <a:t> Postman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latin typeface="Times New Roman" panose="02020603050405020304" pitchFamily="18" charset="0"/>
                          <a:cs typeface="Times New Roman" panose="02020603050405020304" pitchFamily="18" charset="0"/>
                        </a:rPr>
                        <a:t>API docs +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0059715"/>
                  </a:ext>
                </a:extLst>
              </a:tr>
              <a:tr h="642214">
                <a:tc>
                  <a:txBody>
                    <a:bodyPr/>
                    <a:lstStyle/>
                    <a:p>
                      <a:pPr algn="just"/>
                      <a:r>
                        <a:rPr lang="en-US" sz="2000" b="0" dirty="0">
                          <a:latin typeface="Times New Roman" panose="02020603050405020304" pitchFamily="18" charset="0"/>
                          <a:cs typeface="Times New Roman" panose="02020603050405020304" pitchFamily="18" charset="0"/>
                        </a:rPr>
                        <a:t>Collaboration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latin typeface="Times New Roman" panose="02020603050405020304" pitchFamily="18" charset="0"/>
                          <a:cs typeface="Times New Roman" panose="02020603050405020304" pitchFamily="18" charset="0"/>
                        </a:rPr>
                        <a:t>GitHub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latin typeface="Times New Roman" panose="02020603050405020304" pitchFamily="18" charset="0"/>
                          <a:cs typeface="Times New Roman" panose="02020603050405020304" pitchFamily="18" charset="0"/>
                        </a:rPr>
                        <a:t>Version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2829610"/>
                  </a:ext>
                </a:extLst>
              </a:tr>
              <a:tr h="642214">
                <a:tc>
                  <a:txBody>
                    <a:bodyPr/>
                    <a:lstStyle/>
                    <a:p>
                      <a:pPr algn="just"/>
                      <a:r>
                        <a:rPr lang="en-US" sz="2000" b="0" dirty="0">
                          <a:latin typeface="Times New Roman" panose="02020603050405020304" pitchFamily="18" charset="0"/>
                          <a:cs typeface="Times New Roman" panose="02020603050405020304" pitchFamily="18" charset="0"/>
                        </a:rPr>
                        <a:t>Design/Animation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latin typeface="Times New Roman" panose="02020603050405020304" pitchFamily="18" charset="0"/>
                          <a:cs typeface="Times New Roman" panose="02020603050405020304" pitchFamily="18" charset="0"/>
                        </a:rPr>
                        <a:t>Figma/Unity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lang="en-US" sz="2000" dirty="0">
                          <a:latin typeface="Times New Roman" panose="02020603050405020304" pitchFamily="18" charset="0"/>
                          <a:cs typeface="Times New Roman" panose="02020603050405020304" pitchFamily="18" charset="0"/>
                        </a:rPr>
                        <a:t>UI/UX, Mockups/Animations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001538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Feasibility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21</a:t>
            </a:fld>
            <a:endParaRPr lang="en-US">
              <a:latin typeface="Times New Roman" panose="02020603050405020304" pitchFamily="18" charset="0"/>
              <a:cs typeface="Times New Roman" panose="02020603050405020304" pitchFamily="18" charset="0"/>
            </a:endParaRPr>
          </a:p>
        </p:txBody>
      </p:sp>
      <p:graphicFrame>
        <p:nvGraphicFramePr>
          <p:cNvPr id="10" name="Content Placeholder 4">
            <a:extLst>
              <a:ext uri="{FF2B5EF4-FFF2-40B4-BE49-F238E27FC236}">
                <a16:creationId xmlns:a16="http://schemas.microsoft.com/office/drawing/2014/main" id="{7F2CE1CE-8C32-80C3-47C4-DF6774309A6B}"/>
              </a:ext>
            </a:extLst>
          </p:cNvPr>
          <p:cNvGraphicFramePr>
            <a:graphicFrameLocks/>
          </p:cNvGraphicFramePr>
          <p:nvPr>
            <p:extLst>
              <p:ext uri="{D42A27DB-BD31-4B8C-83A1-F6EECF244321}">
                <p14:modId xmlns:p14="http://schemas.microsoft.com/office/powerpoint/2010/main" val="2675351857"/>
              </p:ext>
            </p:extLst>
          </p:nvPr>
        </p:nvGraphicFramePr>
        <p:xfrm>
          <a:off x="609600" y="2035469"/>
          <a:ext cx="7560000" cy="4049752"/>
        </p:xfrm>
        <a:graphic>
          <a:graphicData uri="http://schemas.openxmlformats.org/drawingml/2006/table">
            <a:tbl>
              <a:tblPr>
                <a:tableStyleId>{5940675A-B579-460E-94D1-54222C63F5DA}</a:tableStyleId>
              </a:tblPr>
              <a:tblGrid>
                <a:gridCol w="2520000">
                  <a:extLst>
                    <a:ext uri="{9D8B030D-6E8A-4147-A177-3AD203B41FA5}">
                      <a16:colId xmlns:a16="http://schemas.microsoft.com/office/drawing/2014/main" val="1858574203"/>
                    </a:ext>
                  </a:extLst>
                </a:gridCol>
                <a:gridCol w="2520000">
                  <a:extLst>
                    <a:ext uri="{9D8B030D-6E8A-4147-A177-3AD203B41FA5}">
                      <a16:colId xmlns:a16="http://schemas.microsoft.com/office/drawing/2014/main" val="2695092482"/>
                    </a:ext>
                  </a:extLst>
                </a:gridCol>
                <a:gridCol w="2520000">
                  <a:extLst>
                    <a:ext uri="{9D8B030D-6E8A-4147-A177-3AD203B41FA5}">
                      <a16:colId xmlns:a16="http://schemas.microsoft.com/office/drawing/2014/main" val="1166932997"/>
                    </a:ext>
                  </a:extLst>
                </a:gridCol>
              </a:tblGrid>
              <a:tr h="317611">
                <a:tc>
                  <a:txBody>
                    <a:bodyPr/>
                    <a:lstStyle/>
                    <a:p>
                      <a:pPr algn="ctr">
                        <a:buNone/>
                      </a:pPr>
                      <a:r>
                        <a:rPr lang="en-US" sz="1800" b="1" dirty="0">
                          <a:latin typeface="Times New Roman" panose="02020603050405020304" pitchFamily="18" charset="0"/>
                          <a:cs typeface="Times New Roman" panose="02020603050405020304" pitchFamily="18" charset="0"/>
                        </a:rPr>
                        <a:t>Technology / Tool</a:t>
                      </a:r>
                      <a:endParaRPr lang="en-US" sz="1800" dirty="0">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ctr">
                        <a:buNone/>
                      </a:pPr>
                      <a:r>
                        <a:rPr lang="en-US" sz="1800" b="1" dirty="0">
                          <a:latin typeface="Times New Roman" panose="02020603050405020304" pitchFamily="18" charset="0"/>
                          <a:cs typeface="Times New Roman" panose="02020603050405020304" pitchFamily="18" charset="0"/>
                        </a:rPr>
                        <a:t>Purpose</a:t>
                      </a:r>
                      <a:endParaRPr lang="en-US" sz="1800" dirty="0">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ctr">
                        <a:buNone/>
                      </a:pPr>
                      <a:r>
                        <a:rPr lang="en-US" sz="1800" b="1" dirty="0">
                          <a:latin typeface="Times New Roman" panose="02020603050405020304" pitchFamily="18" charset="0"/>
                          <a:cs typeface="Times New Roman" panose="02020603050405020304" pitchFamily="18" charset="0"/>
                        </a:rPr>
                        <a:t>Feasibility</a:t>
                      </a:r>
                      <a:endParaRPr lang="en-US" sz="1800" dirty="0">
                        <a:latin typeface="Times New Roman" panose="02020603050405020304" pitchFamily="18" charset="0"/>
                        <a:cs typeface="Times New Roman" panose="02020603050405020304" pitchFamily="18" charset="0"/>
                      </a:endParaRPr>
                    </a:p>
                  </a:txBody>
                  <a:tcPr marL="79403" marR="79403" marT="39701" marB="39701" anchor="ctr"/>
                </a:tc>
                <a:extLst>
                  <a:ext uri="{0D108BD9-81ED-4DB2-BD59-A6C34878D82A}">
                    <a16:rowId xmlns:a16="http://schemas.microsoft.com/office/drawing/2014/main" val="2410913183"/>
                  </a:ext>
                </a:extLst>
              </a:tr>
              <a:tr h="555820">
                <a:tc>
                  <a:txBody>
                    <a:bodyPr/>
                    <a:lstStyle/>
                    <a:p>
                      <a:pPr algn="ctr">
                        <a:buNone/>
                      </a:pPr>
                      <a:r>
                        <a:rPr lang="en-US" sz="1800" dirty="0">
                          <a:latin typeface="Times New Roman" panose="02020603050405020304" pitchFamily="18" charset="0"/>
                          <a:cs typeface="Times New Roman" panose="02020603050405020304" pitchFamily="18" charset="0"/>
                        </a:rPr>
                        <a:t>Flutter (Mobile)</a:t>
                      </a:r>
                    </a:p>
                  </a:txBody>
                  <a:tcPr marL="79403" marR="79403" marT="39701" marB="39701" anchor="ctr"/>
                </a:tc>
                <a:tc>
                  <a:txBody>
                    <a:bodyPr/>
                    <a:lstStyle/>
                    <a:p>
                      <a:pPr algn="ctr">
                        <a:buNone/>
                      </a:pPr>
                      <a:r>
                        <a:rPr lang="en-US" sz="1800" dirty="0">
                          <a:latin typeface="Times New Roman" panose="02020603050405020304" pitchFamily="18" charset="0"/>
                          <a:cs typeface="Times New Roman" panose="02020603050405020304" pitchFamily="18" charset="0"/>
                        </a:rPr>
                        <a:t>Cross-platform mobile app development</a:t>
                      </a:r>
                    </a:p>
                  </a:txBody>
                  <a:tcPr marL="79403" marR="79403" marT="39701" marB="39701" anchor="ctr"/>
                </a:tc>
                <a:tc>
                  <a:txBody>
                    <a:bodyPr/>
                    <a:lstStyle/>
                    <a:p>
                      <a:pPr algn="ctr">
                        <a:buNone/>
                      </a:pPr>
                      <a:r>
                        <a:rPr lang="en-US" sz="1800" dirty="0">
                          <a:latin typeface="Times New Roman" panose="02020603050405020304" pitchFamily="18" charset="0"/>
                          <a:cs typeface="Times New Roman" panose="02020603050405020304" pitchFamily="18" charset="0"/>
                        </a:rPr>
                        <a:t>Feasible, open-source</a:t>
                      </a:r>
                    </a:p>
                  </a:txBody>
                  <a:tcPr marL="79403" marR="79403" marT="39701" marB="39701" anchor="ctr"/>
                </a:tc>
                <a:extLst>
                  <a:ext uri="{0D108BD9-81ED-4DB2-BD59-A6C34878D82A}">
                    <a16:rowId xmlns:a16="http://schemas.microsoft.com/office/drawing/2014/main" val="2420212643"/>
                  </a:ext>
                </a:extLst>
              </a:tr>
              <a:tr h="555820">
                <a:tc>
                  <a:txBody>
                    <a:bodyPr/>
                    <a:lstStyle/>
                    <a:p>
                      <a:pPr algn="ctr">
                        <a:buNone/>
                      </a:pPr>
                      <a:r>
                        <a:rPr lang="en-US" sz="1800" b="0" i="0" kern="1200" dirty="0">
                          <a:solidFill>
                            <a:schemeClr val="tx1"/>
                          </a:solidFill>
                          <a:effectLst/>
                          <a:latin typeface="+mn-lt"/>
                          <a:ea typeface="+mn-ea"/>
                          <a:cs typeface="+mn-cs"/>
                        </a:rPr>
                        <a:t>Node.js (Backend)</a:t>
                      </a:r>
                      <a:endParaRPr lang="en-US" sz="1800" b="0" dirty="0">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ctr">
                        <a:buNone/>
                      </a:pPr>
                      <a:r>
                        <a:rPr lang="en-US" sz="1800" b="0" i="0" kern="1200" dirty="0">
                          <a:solidFill>
                            <a:schemeClr val="tx1"/>
                          </a:solidFill>
                          <a:effectLst/>
                          <a:latin typeface="+mn-lt"/>
                          <a:ea typeface="+mn-ea"/>
                          <a:cs typeface="+mn-cs"/>
                        </a:rPr>
                        <a:t>API development &amp; server logic</a:t>
                      </a:r>
                      <a:endParaRPr lang="en-US" sz="1800" dirty="0">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ctr">
                        <a:buNone/>
                      </a:pPr>
                      <a:r>
                        <a:rPr lang="en-US" sz="1800" dirty="0">
                          <a:latin typeface="Times New Roman" panose="02020603050405020304" pitchFamily="18" charset="0"/>
                          <a:cs typeface="Times New Roman" panose="02020603050405020304" pitchFamily="18" charset="0"/>
                        </a:rPr>
                        <a:t>Feasible, open-source</a:t>
                      </a:r>
                    </a:p>
                  </a:txBody>
                  <a:tcPr marL="79403" marR="79403" marT="39701" marB="39701" anchor="ctr"/>
                </a:tc>
                <a:extLst>
                  <a:ext uri="{0D108BD9-81ED-4DB2-BD59-A6C34878D82A}">
                    <a16:rowId xmlns:a16="http://schemas.microsoft.com/office/drawing/2014/main" val="483460178"/>
                  </a:ext>
                </a:extLst>
              </a:tr>
              <a:tr h="555820">
                <a:tc>
                  <a:txBody>
                    <a:bodyPr/>
                    <a:lstStyle/>
                    <a:p>
                      <a:pPr algn="ctr">
                        <a:buNone/>
                      </a:pPr>
                      <a:r>
                        <a:rPr lang="en-US" sz="1800" b="0" i="0" kern="1200" dirty="0">
                          <a:solidFill>
                            <a:schemeClr val="tx1"/>
                          </a:solidFill>
                          <a:effectLst/>
                          <a:latin typeface="+mn-lt"/>
                          <a:ea typeface="+mn-ea"/>
                          <a:cs typeface="+mn-cs"/>
                        </a:rPr>
                        <a:t>PostgreSQL</a:t>
                      </a:r>
                      <a:endParaRPr lang="en-US" sz="1800" b="0" dirty="0">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ctr">
                        <a:buNone/>
                      </a:pPr>
                      <a:r>
                        <a:rPr lang="en-US" sz="1800" b="0" i="0" kern="1200" dirty="0">
                          <a:solidFill>
                            <a:schemeClr val="tx1"/>
                          </a:solidFill>
                          <a:effectLst/>
                          <a:latin typeface="+mn-lt"/>
                          <a:ea typeface="+mn-ea"/>
                          <a:cs typeface="+mn-cs"/>
                        </a:rPr>
                        <a:t>Relational database management</a:t>
                      </a:r>
                      <a:endParaRPr lang="en-US" sz="1800" dirty="0">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ctr">
                        <a:buNone/>
                      </a:pPr>
                      <a:r>
                        <a:rPr lang="en-US" sz="1800" b="0" i="0" kern="1200" dirty="0">
                          <a:solidFill>
                            <a:schemeClr val="tx1"/>
                          </a:solidFill>
                          <a:effectLst/>
                          <a:latin typeface="+mn-lt"/>
                          <a:ea typeface="+mn-ea"/>
                          <a:cs typeface="+mn-cs"/>
                        </a:rPr>
                        <a:t>Reliable, widely used</a:t>
                      </a:r>
                      <a:endParaRPr lang="en-US" sz="1800" dirty="0">
                        <a:latin typeface="Times New Roman" panose="02020603050405020304" pitchFamily="18" charset="0"/>
                        <a:cs typeface="Times New Roman" panose="02020603050405020304" pitchFamily="18" charset="0"/>
                      </a:endParaRPr>
                    </a:p>
                  </a:txBody>
                  <a:tcPr marL="79403" marR="79403" marT="39701" marB="39701" anchor="ctr"/>
                </a:tc>
                <a:extLst>
                  <a:ext uri="{0D108BD9-81ED-4DB2-BD59-A6C34878D82A}">
                    <a16:rowId xmlns:a16="http://schemas.microsoft.com/office/drawing/2014/main" val="2311708820"/>
                  </a:ext>
                </a:extLst>
              </a:tr>
              <a:tr h="555820">
                <a:tc>
                  <a:txBody>
                    <a:bodyPr/>
                    <a:lstStyle/>
                    <a:p>
                      <a:pPr algn="ctr">
                        <a:buNone/>
                      </a:pPr>
                      <a:r>
                        <a:rPr lang="en-US" sz="1800" b="0" i="0" kern="1200" dirty="0" err="1">
                          <a:solidFill>
                            <a:schemeClr val="tx1"/>
                          </a:solidFill>
                          <a:effectLst/>
                          <a:latin typeface="+mn-lt"/>
                          <a:ea typeface="+mn-ea"/>
                          <a:cs typeface="+mn-cs"/>
                        </a:rPr>
                        <a:t>Supabase</a:t>
                      </a:r>
                      <a:endParaRPr lang="en-US" sz="1800" b="0" dirty="0">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ctr">
                        <a:buNone/>
                      </a:pPr>
                      <a:r>
                        <a:rPr lang="en-US" sz="1800" b="0" i="0" kern="1200" dirty="0">
                          <a:solidFill>
                            <a:schemeClr val="tx1"/>
                          </a:solidFill>
                          <a:effectLst/>
                          <a:latin typeface="+mn-lt"/>
                          <a:ea typeface="+mn-ea"/>
                          <a:cs typeface="+mn-cs"/>
                        </a:rPr>
                        <a:t>Backend-as-a-Service platform</a:t>
                      </a:r>
                      <a:endParaRPr lang="en-US" sz="1800" dirty="0">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ctr">
                        <a:buNone/>
                      </a:pPr>
                      <a:r>
                        <a:rPr lang="en-US" sz="1800" b="0" i="0" kern="1200" dirty="0">
                          <a:solidFill>
                            <a:schemeClr val="tx1"/>
                          </a:solidFill>
                          <a:effectLst/>
                          <a:latin typeface="+mn-lt"/>
                          <a:ea typeface="+mn-ea"/>
                          <a:cs typeface="+mn-cs"/>
                        </a:rPr>
                        <a:t>Feasible</a:t>
                      </a:r>
                      <a:endParaRPr lang="en-US" sz="1800" dirty="0">
                        <a:latin typeface="Times New Roman" panose="02020603050405020304" pitchFamily="18" charset="0"/>
                        <a:cs typeface="Times New Roman" panose="02020603050405020304" pitchFamily="18" charset="0"/>
                      </a:endParaRPr>
                    </a:p>
                  </a:txBody>
                  <a:tcPr marL="79403" marR="79403" marT="39701" marB="39701" anchor="ctr"/>
                </a:tc>
                <a:extLst>
                  <a:ext uri="{0D108BD9-81ED-4DB2-BD59-A6C34878D82A}">
                    <a16:rowId xmlns:a16="http://schemas.microsoft.com/office/drawing/2014/main" val="2381712912"/>
                  </a:ext>
                </a:extLst>
              </a:tr>
              <a:tr h="317611">
                <a:tc>
                  <a:txBody>
                    <a:bodyPr/>
                    <a:lstStyle/>
                    <a:p>
                      <a:pPr algn="ctr">
                        <a:buNone/>
                      </a:pPr>
                      <a:r>
                        <a:rPr lang="en-US" sz="1800" b="0" i="0" kern="1200" dirty="0">
                          <a:solidFill>
                            <a:schemeClr val="tx1"/>
                          </a:solidFill>
                          <a:effectLst/>
                          <a:latin typeface="+mn-lt"/>
                          <a:ea typeface="+mn-ea"/>
                          <a:cs typeface="+mn-cs"/>
                        </a:rPr>
                        <a:t>Git &amp; GitHub</a:t>
                      </a:r>
                      <a:endParaRPr lang="en-US" sz="1800" b="0" dirty="0">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ctr">
                        <a:buNone/>
                      </a:pPr>
                      <a:r>
                        <a:rPr lang="en-US" sz="1800" b="0" i="0" kern="1200" dirty="0">
                          <a:solidFill>
                            <a:schemeClr val="tx1"/>
                          </a:solidFill>
                          <a:effectLst/>
                          <a:latin typeface="+mn-lt"/>
                          <a:ea typeface="+mn-ea"/>
                          <a:cs typeface="+mn-cs"/>
                        </a:rPr>
                        <a:t>Version control &amp; collaboration</a:t>
                      </a:r>
                      <a:endParaRPr lang="en-US" sz="1800" dirty="0">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ctr">
                        <a:buNone/>
                      </a:pPr>
                      <a:r>
                        <a:rPr lang="en-US" sz="1800" b="0" i="0" kern="1200" dirty="0">
                          <a:solidFill>
                            <a:schemeClr val="tx1"/>
                          </a:solidFill>
                          <a:effectLst/>
                          <a:latin typeface="+mn-lt"/>
                          <a:ea typeface="+mn-ea"/>
                          <a:cs typeface="+mn-cs"/>
                        </a:rPr>
                        <a:t>Free, industry standard</a:t>
                      </a:r>
                      <a:endParaRPr lang="en-US" sz="1800" dirty="0">
                        <a:latin typeface="Times New Roman" panose="02020603050405020304" pitchFamily="18" charset="0"/>
                        <a:cs typeface="Times New Roman" panose="02020603050405020304" pitchFamily="18" charset="0"/>
                      </a:endParaRPr>
                    </a:p>
                  </a:txBody>
                  <a:tcPr marL="79403" marR="79403" marT="39701" marB="39701" anchor="ctr"/>
                </a:tc>
                <a:extLst>
                  <a:ext uri="{0D108BD9-81ED-4DB2-BD59-A6C34878D82A}">
                    <a16:rowId xmlns:a16="http://schemas.microsoft.com/office/drawing/2014/main" val="3970412626"/>
                  </a:ext>
                </a:extLst>
              </a:tr>
              <a:tr h="555820">
                <a:tc>
                  <a:txBody>
                    <a:bodyPr/>
                    <a:lstStyle/>
                    <a:p>
                      <a:pPr algn="ctr">
                        <a:buNone/>
                      </a:pPr>
                      <a:r>
                        <a:rPr lang="en-US" sz="1800" b="0" i="0" kern="1200" dirty="0">
                          <a:solidFill>
                            <a:schemeClr val="tx1"/>
                          </a:solidFill>
                          <a:effectLst/>
                          <a:latin typeface="+mn-lt"/>
                          <a:ea typeface="+mn-ea"/>
                          <a:cs typeface="+mn-cs"/>
                        </a:rPr>
                        <a:t>Express.js</a:t>
                      </a:r>
                      <a:endParaRPr lang="en-US" sz="1800" b="0" dirty="0">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ctr">
                        <a:buNone/>
                      </a:pPr>
                      <a:r>
                        <a:rPr lang="en-US" sz="1800" b="0" i="0" kern="1200" dirty="0">
                          <a:solidFill>
                            <a:schemeClr val="tx1"/>
                          </a:solidFill>
                          <a:effectLst/>
                          <a:latin typeface="+mn-lt"/>
                          <a:ea typeface="+mn-ea"/>
                          <a:cs typeface="+mn-cs"/>
                        </a:rPr>
                        <a:t>REST API framework</a:t>
                      </a:r>
                      <a:endParaRPr lang="en-US" sz="1800" dirty="0">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buNone/>
                      </a:pPr>
                      <a:r>
                        <a:rPr lang="en-US" dirty="0">
                          <a:effectLst/>
                        </a:rPr>
                        <a:t>   Fast, lightweight</a:t>
                      </a:r>
                    </a:p>
                  </a:txBody>
                  <a:tcPr marL="45720" marR="45720" marT="30480" marB="30480" anchor="ctr"/>
                </a:tc>
                <a:extLst>
                  <a:ext uri="{0D108BD9-81ED-4DB2-BD59-A6C34878D82A}">
                    <a16:rowId xmlns:a16="http://schemas.microsoft.com/office/drawing/2014/main" val="3288862907"/>
                  </a:ext>
                </a:extLst>
              </a:tr>
            </a:tbl>
          </a:graphicData>
        </a:graphic>
      </p:graphicFrame>
      <p:sp>
        <p:nvSpPr>
          <p:cNvPr id="11" name="Content Placeholder 6">
            <a:extLst>
              <a:ext uri="{FF2B5EF4-FFF2-40B4-BE49-F238E27FC236}">
                <a16:creationId xmlns:a16="http://schemas.microsoft.com/office/drawing/2014/main" id="{9E633D8A-4984-C5DA-0578-E34F480A1118}"/>
              </a:ext>
            </a:extLst>
          </p:cNvPr>
          <p:cNvSpPr>
            <a:spLocks noGrp="1"/>
          </p:cNvSpPr>
          <p:nvPr>
            <p:ph idx="1"/>
          </p:nvPr>
        </p:nvSpPr>
        <p:spPr>
          <a:xfrm>
            <a:off x="425918" y="1288129"/>
            <a:ext cx="8229600" cy="4525963"/>
          </a:xfrm>
        </p:spPr>
        <p:txBody>
          <a:bodyPr/>
          <a:lstStyle/>
          <a:p>
            <a:pPr marL="0" indent="0">
              <a:buNone/>
            </a:pPr>
            <a:r>
              <a:rPr lang="en-US" b="1" dirty="0">
                <a:latin typeface="Times New Roman" panose="02020603050405020304" pitchFamily="18" charset="0"/>
                <a:cs typeface="Times New Roman" panose="02020603050405020304" pitchFamily="18" charset="0"/>
              </a:rPr>
              <a:t>Technical Feasibility</a:t>
            </a:r>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Feasibility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22</a:t>
            </a:fld>
            <a:endParaRPr lang="en-US">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1E1E71AE-E57F-3BAD-EA62-1B36A5DF051D}"/>
              </a:ext>
            </a:extLst>
          </p:cNvPr>
          <p:cNvSpPr>
            <a:spLocks noGrp="1"/>
          </p:cNvSpPr>
          <p:nvPr>
            <p:ph idx="1"/>
          </p:nvPr>
        </p:nvSpPr>
        <p:spPr>
          <a:xfrm>
            <a:off x="368709" y="1219200"/>
            <a:ext cx="8229600" cy="4525963"/>
          </a:xfrm>
        </p:spPr>
        <p:txBody>
          <a:bodyPr/>
          <a:lstStyle/>
          <a:p>
            <a:pPr marL="0" indent="0">
              <a:buNone/>
            </a:pPr>
            <a:r>
              <a:rPr lang="en-US" b="1" dirty="0">
                <a:latin typeface="Times New Roman" panose="02020603050405020304" pitchFamily="18" charset="0"/>
                <a:cs typeface="Times New Roman" panose="02020603050405020304" pitchFamily="18" charset="0"/>
              </a:rPr>
              <a:t> Financial feasibility</a:t>
            </a:r>
          </a:p>
        </p:txBody>
      </p:sp>
      <p:graphicFrame>
        <p:nvGraphicFramePr>
          <p:cNvPr id="8" name="Table 7">
            <a:extLst>
              <a:ext uri="{FF2B5EF4-FFF2-40B4-BE49-F238E27FC236}">
                <a16:creationId xmlns:a16="http://schemas.microsoft.com/office/drawing/2014/main" id="{BDB213F9-C30F-C298-53EE-57167883C7CC}"/>
              </a:ext>
            </a:extLst>
          </p:cNvPr>
          <p:cNvGraphicFramePr>
            <a:graphicFrameLocks noGrp="1"/>
          </p:cNvGraphicFramePr>
          <p:nvPr>
            <p:extLst>
              <p:ext uri="{D42A27DB-BD31-4B8C-83A1-F6EECF244321}">
                <p14:modId xmlns:p14="http://schemas.microsoft.com/office/powerpoint/2010/main" val="617724717"/>
              </p:ext>
            </p:extLst>
          </p:nvPr>
        </p:nvGraphicFramePr>
        <p:xfrm>
          <a:off x="457200" y="1889790"/>
          <a:ext cx="8318092" cy="4799935"/>
        </p:xfrm>
        <a:graphic>
          <a:graphicData uri="http://schemas.openxmlformats.org/drawingml/2006/table">
            <a:tbl>
              <a:tblPr firstRow="1" bandRow="1">
                <a:tableStyleId>{5C22544A-7EE6-4342-B048-85BDC9FD1C3A}</a:tableStyleId>
              </a:tblPr>
              <a:tblGrid>
                <a:gridCol w="2650010">
                  <a:extLst>
                    <a:ext uri="{9D8B030D-6E8A-4147-A177-3AD203B41FA5}">
                      <a16:colId xmlns:a16="http://schemas.microsoft.com/office/drawing/2014/main" val="3009305985"/>
                    </a:ext>
                  </a:extLst>
                </a:gridCol>
                <a:gridCol w="1324135">
                  <a:extLst>
                    <a:ext uri="{9D8B030D-6E8A-4147-A177-3AD203B41FA5}">
                      <a16:colId xmlns:a16="http://schemas.microsoft.com/office/drawing/2014/main" val="3212578853"/>
                    </a:ext>
                  </a:extLst>
                </a:gridCol>
                <a:gridCol w="4343947">
                  <a:extLst>
                    <a:ext uri="{9D8B030D-6E8A-4147-A177-3AD203B41FA5}">
                      <a16:colId xmlns:a16="http://schemas.microsoft.com/office/drawing/2014/main" val="2112172677"/>
                    </a:ext>
                  </a:extLst>
                </a:gridCol>
              </a:tblGrid>
              <a:tr h="431729">
                <a:tc>
                  <a:txBody>
                    <a:bodyPr/>
                    <a:lstStyle/>
                    <a:p>
                      <a:r>
                        <a:rPr lang="en-US" dirty="0">
                          <a:solidFill>
                            <a:schemeClr val="tx1"/>
                          </a:solidFill>
                          <a:latin typeface="Times New Roman" panose="02020603050405020304" pitchFamily="18" charset="0"/>
                          <a:cs typeface="Times New Roman" panose="02020603050405020304" pitchFamily="18" charset="0"/>
                        </a:rPr>
                        <a:t>Tools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Times New Roman" panose="02020603050405020304" pitchFamily="18" charset="0"/>
                          <a:cs typeface="Times New Roman" panose="02020603050405020304" pitchFamily="18" charset="0"/>
                        </a:rPr>
                        <a:t>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Times New Roman" panose="02020603050405020304" pitchFamily="18" charset="0"/>
                          <a:cs typeface="Times New Roman" panose="02020603050405020304" pitchFamily="18" charset="0"/>
                        </a:rPr>
                        <a:t>For/Purpose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3911605"/>
                  </a:ext>
                </a:extLst>
              </a:tr>
              <a:tr h="444184">
                <a:tc>
                  <a:txBody>
                    <a:bodyPr/>
                    <a:lstStyle/>
                    <a:p>
                      <a:pPr algn="just">
                        <a:buNone/>
                      </a:pPr>
                      <a:r>
                        <a:rPr lang="en-US" b="0" dirty="0" err="1">
                          <a:latin typeface="Times New Roman" panose="02020603050405020304" pitchFamily="18" charset="0"/>
                          <a:cs typeface="Times New Roman" panose="02020603050405020304" pitchFamily="18" charset="0"/>
                        </a:rPr>
                        <a:t>PyTorch</a:t>
                      </a:r>
                      <a:r>
                        <a:rPr lang="en-US" b="0" dirty="0">
                          <a:latin typeface="Times New Roman" panose="02020603050405020304" pitchFamily="18" charset="0"/>
                          <a:cs typeface="Times New Roman" panose="02020603050405020304" pitchFamily="18" charset="0"/>
                        </a:rPr>
                        <a:t> (Open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Free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AI model training and anomaly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2071073"/>
                  </a:ext>
                </a:extLst>
              </a:tr>
              <a:tr h="624955">
                <a:tc>
                  <a:txBody>
                    <a:bodyPr/>
                    <a:lstStyle/>
                    <a:p>
                      <a:pPr algn="just"/>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Arduino IDE</a:t>
                      </a:r>
                      <a:endParaRPr lang="en-US"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Free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Sensor interfacing and embedded programming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1269423"/>
                  </a:ext>
                </a:extLst>
              </a:tr>
              <a:tr h="624955">
                <a:tc>
                  <a:txBody>
                    <a:bodyPr/>
                    <a:lstStyle/>
                    <a:p>
                      <a:pPr algn="just"/>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PostgreSQL (Open Source)</a:t>
                      </a:r>
                      <a:endParaRPr lang="en-US"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Free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Relational database for data</a:t>
                      </a:r>
                      <a:endParaRPr 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44881173"/>
                  </a:ext>
                </a:extLst>
              </a:tr>
              <a:tr h="648215">
                <a:tc>
                  <a:txBody>
                    <a:bodyPr/>
                    <a:lstStyle/>
                    <a:p>
                      <a:pPr algn="just"/>
                      <a:r>
                        <a:rPr lang="en-US" dirty="0">
                          <a:latin typeface="Times New Roman" panose="02020603050405020304" pitchFamily="18" charset="0"/>
                          <a:cs typeface="Times New Roman" panose="02020603050405020304" pitchFamily="18" charset="0"/>
                        </a:rPr>
                        <a:t>ESP32 </a:t>
                      </a:r>
                      <a:r>
                        <a:rPr lang="en-US" dirty="0" err="1">
                          <a:latin typeface="Times New Roman" panose="02020603050405020304" pitchFamily="18" charset="0"/>
                          <a:cs typeface="Times New Roman" panose="02020603050405020304" pitchFamily="18" charset="0"/>
                        </a:rPr>
                        <a:t>DevKit</a:t>
                      </a:r>
                      <a:endParaRPr lang="en-US"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Low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Real-time sensor data acquisition and transmission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3996600"/>
                  </a:ext>
                </a:extLst>
              </a:tr>
              <a:tr h="417337">
                <a:tc>
                  <a:txBody>
                    <a:bodyPr/>
                    <a:lstStyle/>
                    <a:p>
                      <a:pPr algn="just"/>
                      <a:r>
                        <a:rPr lang="en-US" dirty="0">
                          <a:latin typeface="Times New Roman" panose="02020603050405020304" pitchFamily="18" charset="0"/>
                          <a:cs typeface="Times New Roman" panose="02020603050405020304" pitchFamily="18" charset="0"/>
                        </a:rPr>
                        <a:t>2 × MPU6050</a:t>
                      </a:r>
                      <a:endParaRPr lang="en-US"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Low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Upper arm and forearm motion tracking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55215219"/>
                  </a:ext>
                </a:extLst>
              </a:tr>
              <a:tr h="624955">
                <a:tc>
                  <a:txBody>
                    <a:bodyPr/>
                    <a:lstStyle/>
                    <a:p>
                      <a:pPr algn="just"/>
                      <a:r>
                        <a:rPr lang="en-US" dirty="0">
                          <a:latin typeface="Times New Roman" panose="02020603050405020304" pitchFamily="18" charset="0"/>
                          <a:cs typeface="Times New Roman" panose="02020603050405020304" pitchFamily="18" charset="0"/>
                        </a:rPr>
                        <a:t>2 × </a:t>
                      </a:r>
                      <a:r>
                        <a:rPr lang="en-US" dirty="0" err="1">
                          <a:latin typeface="Times New Roman" panose="02020603050405020304" pitchFamily="18" charset="0"/>
                          <a:cs typeface="Times New Roman" panose="02020603050405020304" pitchFamily="18" charset="0"/>
                        </a:rPr>
                        <a:t>MyoWare</a:t>
                      </a:r>
                      <a:r>
                        <a:rPr lang="en-US" dirty="0">
                          <a:latin typeface="Times New Roman" panose="02020603050405020304" pitchFamily="18" charset="0"/>
                          <a:cs typeface="Times New Roman" panose="02020603050405020304" pitchFamily="18" charset="0"/>
                        </a:rPr>
                        <a:t> 2.0 Muscle Sensor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Medium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Biceps and triceps muscle activity acquisition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0241953"/>
                  </a:ext>
                </a:extLst>
              </a:tr>
              <a:tr h="523546">
                <a:tc>
                  <a:txBody>
                    <a:bodyPr/>
                    <a:lstStyle/>
                    <a:p>
                      <a:pPr algn="just"/>
                      <a:r>
                        <a:rPr lang="en-US" dirty="0">
                          <a:latin typeface="Times New Roman" panose="02020603050405020304" pitchFamily="18" charset="0"/>
                          <a:cs typeface="Times New Roman" panose="02020603050405020304" pitchFamily="18" charset="0"/>
                        </a:rPr>
                        <a:t>Public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Free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buNone/>
                      </a:pPr>
                      <a:r>
                        <a:rPr lang="en-US" dirty="0">
                          <a:latin typeface="Times New Roman" panose="02020603050405020304" pitchFamily="18" charset="0"/>
                          <a:cs typeface="Times New Roman" panose="02020603050405020304" pitchFamily="18" charset="0"/>
                        </a:rPr>
                        <a:t>Model training and software development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4270419"/>
                  </a:ext>
                </a:extLst>
              </a:tr>
              <a:tr h="414684">
                <a:tc>
                  <a:txBody>
                    <a:bodyPr/>
                    <a:lstStyle/>
                    <a:p>
                      <a:pPr algn="just"/>
                      <a:r>
                        <a:rPr lang="en-US" dirty="0">
                          <a:latin typeface="Times New Roman" panose="02020603050405020304" pitchFamily="18" charset="0"/>
                          <a:cs typeface="Times New Roman" panose="02020603050405020304" pitchFamily="18" charset="0"/>
                        </a:rPr>
                        <a:t>Straps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Low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buNone/>
                      </a:pPr>
                      <a:r>
                        <a:rPr lang="en-US" dirty="0">
                          <a:latin typeface="Times New Roman" panose="02020603050405020304" pitchFamily="18" charset="0"/>
                          <a:cs typeface="Times New Roman" panose="02020603050405020304" pitchFamily="18" charset="0"/>
                        </a:rPr>
                        <a:t>Sensor attachment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047107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Feasibility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23</a:t>
            </a:fld>
            <a:endParaRPr lang="en-US">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54327B8C-45DA-B16E-8F6A-87A3FB2B7BF1}"/>
              </a:ext>
            </a:extLst>
          </p:cNvPr>
          <p:cNvSpPr>
            <a:spLocks noGrp="1"/>
          </p:cNvSpPr>
          <p:nvPr>
            <p:ph idx="1"/>
          </p:nvPr>
        </p:nvSpPr>
        <p:spPr>
          <a:xfrm>
            <a:off x="457200" y="1195261"/>
            <a:ext cx="8229600" cy="4525963"/>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Resource feasibility</a:t>
            </a:r>
          </a:p>
          <a:p>
            <a:pPr marL="0" indent="0">
              <a:buNone/>
            </a:pPr>
            <a:endParaRPr lang="en-US"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CC850F37-EE57-6AB7-772A-2BB02AB52897}"/>
              </a:ext>
            </a:extLst>
          </p:cNvPr>
          <p:cNvGraphicFramePr>
            <a:graphicFrameLocks noGrp="1"/>
          </p:cNvGraphicFramePr>
          <p:nvPr>
            <p:extLst>
              <p:ext uri="{D42A27DB-BD31-4B8C-83A1-F6EECF244321}">
                <p14:modId xmlns:p14="http://schemas.microsoft.com/office/powerpoint/2010/main" val="4263830727"/>
              </p:ext>
            </p:extLst>
          </p:nvPr>
        </p:nvGraphicFramePr>
        <p:xfrm>
          <a:off x="694403" y="1905000"/>
          <a:ext cx="7696200" cy="3808850"/>
        </p:xfrm>
        <a:graphic>
          <a:graphicData uri="http://schemas.openxmlformats.org/drawingml/2006/table">
            <a:tbl>
              <a:tblPr>
                <a:tableStyleId>{5940675A-B579-460E-94D1-54222C63F5DA}</a:tableStyleId>
              </a:tblPr>
              <a:tblGrid>
                <a:gridCol w="2565400">
                  <a:extLst>
                    <a:ext uri="{9D8B030D-6E8A-4147-A177-3AD203B41FA5}">
                      <a16:colId xmlns:a16="http://schemas.microsoft.com/office/drawing/2014/main" val="3633144194"/>
                    </a:ext>
                  </a:extLst>
                </a:gridCol>
                <a:gridCol w="2565400">
                  <a:extLst>
                    <a:ext uri="{9D8B030D-6E8A-4147-A177-3AD203B41FA5}">
                      <a16:colId xmlns:a16="http://schemas.microsoft.com/office/drawing/2014/main" val="879311684"/>
                    </a:ext>
                  </a:extLst>
                </a:gridCol>
                <a:gridCol w="2565400">
                  <a:extLst>
                    <a:ext uri="{9D8B030D-6E8A-4147-A177-3AD203B41FA5}">
                      <a16:colId xmlns:a16="http://schemas.microsoft.com/office/drawing/2014/main" val="2337794540"/>
                    </a:ext>
                  </a:extLst>
                </a:gridCol>
              </a:tblGrid>
              <a:tr h="519973">
                <a:tc>
                  <a:txBody>
                    <a:bodyPr/>
                    <a:lstStyle/>
                    <a:p>
                      <a:pPr algn="ctr">
                        <a:buNone/>
                      </a:pPr>
                      <a:r>
                        <a:rPr lang="en-US" b="1" dirty="0">
                          <a:latin typeface="Times New Roman" panose="02020603050405020304" pitchFamily="18" charset="0"/>
                          <a:cs typeface="Times New Roman" panose="02020603050405020304" pitchFamily="18" charset="0"/>
                        </a:rPr>
                        <a:t>Resource</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b="1" dirty="0">
                          <a:latin typeface="Times New Roman" panose="02020603050405020304" pitchFamily="18" charset="0"/>
                          <a:cs typeface="Times New Roman" panose="02020603050405020304" pitchFamily="18" charset="0"/>
                        </a:rPr>
                        <a:t>Availability</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b="1" dirty="0">
                          <a:latin typeface="Times New Roman" panose="02020603050405020304" pitchFamily="18" charset="0"/>
                          <a:cs typeface="Times New Roman" panose="02020603050405020304" pitchFamily="18" charset="0"/>
                        </a:rPr>
                        <a:t>Purpose</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905403"/>
                  </a:ext>
                </a:extLst>
              </a:tr>
              <a:tr h="519973">
                <a:tc>
                  <a:txBody>
                    <a:bodyPr/>
                    <a:lstStyle/>
                    <a:p>
                      <a:pPr algn="ctr">
                        <a:buNone/>
                      </a:pPr>
                      <a:r>
                        <a:rPr lang="en-US" b="0" dirty="0">
                          <a:latin typeface="Times New Roman" panose="02020603050405020304" pitchFamily="18" charset="0"/>
                          <a:cs typeface="Times New Roman" panose="02020603050405020304" pitchFamily="18" charset="0"/>
                        </a:rPr>
                        <a:t>Development Team</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Available</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For Entire Project</a:t>
                      </a:r>
                    </a:p>
                  </a:txBody>
                  <a:tcPr anchor="ctr"/>
                </a:tc>
                <a:extLst>
                  <a:ext uri="{0D108BD9-81ED-4DB2-BD59-A6C34878D82A}">
                    <a16:rowId xmlns:a16="http://schemas.microsoft.com/office/drawing/2014/main" val="1923783249"/>
                  </a:ext>
                </a:extLst>
              </a:tr>
              <a:tr h="519973">
                <a:tc>
                  <a:txBody>
                    <a:bodyPr/>
                    <a:lstStyle/>
                    <a:p>
                      <a:pPr algn="ctr">
                        <a:buNone/>
                      </a:pPr>
                      <a:r>
                        <a:rPr lang="en-US" b="0" dirty="0">
                          <a:latin typeface="Times New Roman" panose="02020603050405020304" pitchFamily="18" charset="0"/>
                          <a:cs typeface="Times New Roman" panose="02020603050405020304" pitchFamily="18" charset="0"/>
                        </a:rPr>
                        <a:t>Supervisor</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Available</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Evaluations and review</a:t>
                      </a:r>
                    </a:p>
                  </a:txBody>
                  <a:tcPr anchor="ctr"/>
                </a:tc>
                <a:extLst>
                  <a:ext uri="{0D108BD9-81ED-4DB2-BD59-A6C34878D82A}">
                    <a16:rowId xmlns:a16="http://schemas.microsoft.com/office/drawing/2014/main" val="3250055651"/>
                  </a:ext>
                </a:extLst>
              </a:tr>
              <a:tr h="819006">
                <a:tc>
                  <a:txBody>
                    <a:bodyPr/>
                    <a:lstStyle/>
                    <a:p>
                      <a:pPr algn="ctr">
                        <a:buNone/>
                      </a:pPr>
                      <a:r>
                        <a:rPr lang="en-US" b="0" dirty="0">
                          <a:latin typeface="Times New Roman" panose="02020603050405020304" pitchFamily="18" charset="0"/>
                          <a:cs typeface="Times New Roman" panose="02020603050405020304" pitchFamily="18" charset="0"/>
                        </a:rPr>
                        <a:t>Laptops </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Available </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Development and testing environment</a:t>
                      </a:r>
                    </a:p>
                  </a:txBody>
                  <a:tcPr anchor="ctr"/>
                </a:tc>
                <a:extLst>
                  <a:ext uri="{0D108BD9-81ED-4DB2-BD59-A6C34878D82A}">
                    <a16:rowId xmlns:a16="http://schemas.microsoft.com/office/drawing/2014/main" val="3281792"/>
                  </a:ext>
                </a:extLst>
              </a:tr>
              <a:tr h="519973">
                <a:tc>
                  <a:txBody>
                    <a:bodyPr/>
                    <a:lstStyle/>
                    <a:p>
                      <a:pPr algn="ctr">
                        <a:buNone/>
                      </a:pPr>
                      <a:r>
                        <a:rPr lang="en-US" b="0" dirty="0">
                          <a:latin typeface="Times New Roman" panose="02020603050405020304" pitchFamily="18" charset="0"/>
                          <a:cs typeface="Times New Roman" panose="02020603050405020304" pitchFamily="18" charset="0"/>
                        </a:rPr>
                        <a:t>Smartphones</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Available </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Mobile app testing</a:t>
                      </a:r>
                    </a:p>
                  </a:txBody>
                  <a:tcPr anchor="ctr"/>
                </a:tc>
                <a:extLst>
                  <a:ext uri="{0D108BD9-81ED-4DB2-BD59-A6C34878D82A}">
                    <a16:rowId xmlns:a16="http://schemas.microsoft.com/office/drawing/2014/main" val="2991719337"/>
                  </a:ext>
                </a:extLst>
              </a:tr>
              <a:tr h="909952">
                <a:tc>
                  <a:txBody>
                    <a:bodyPr/>
                    <a:lstStyle/>
                    <a:p>
                      <a:pPr algn="ctr">
                        <a:buNone/>
                      </a:pPr>
                      <a:r>
                        <a:rPr lang="en-US" b="0" dirty="0">
                          <a:latin typeface="Times New Roman" panose="02020603050405020304" pitchFamily="18" charset="0"/>
                          <a:cs typeface="Times New Roman" panose="02020603050405020304" pitchFamily="18" charset="0"/>
                        </a:rPr>
                        <a:t>Internet Connection</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Available </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Required for APIs, sync, GitHub</a:t>
                      </a:r>
                    </a:p>
                  </a:txBody>
                  <a:tcPr anchor="ctr"/>
                </a:tc>
                <a:extLst>
                  <a:ext uri="{0D108BD9-81ED-4DB2-BD59-A6C34878D82A}">
                    <a16:rowId xmlns:a16="http://schemas.microsoft.com/office/drawing/2014/main" val="66841875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Feasibility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24</a:t>
            </a:fld>
            <a:endParaRPr lang="en-US">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1EE65383-17D1-A75A-A323-9A5FD2274A3B}"/>
              </a:ext>
            </a:extLst>
          </p:cNvPr>
          <p:cNvSpPr txBox="1">
            <a:spLocks/>
          </p:cNvSpPr>
          <p:nvPr/>
        </p:nvSpPr>
        <p:spPr>
          <a:xfrm>
            <a:off x="377313" y="1166018"/>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b="1" dirty="0">
                <a:latin typeface="Times New Roman" panose="02020603050405020304" pitchFamily="18" charset="0"/>
                <a:cs typeface="Times New Roman" panose="02020603050405020304" pitchFamily="18" charset="0"/>
              </a:rPr>
              <a:t> Operational feasibility</a:t>
            </a:r>
          </a:p>
          <a:p>
            <a:pPr marL="0" indent="0">
              <a:buFont typeface="Arial" pitchFamily="34" charset="0"/>
              <a:buNone/>
            </a:pPr>
            <a:endParaRPr lang="en-US"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D44A70D8-709C-6134-E1C4-752BB837EEDC}"/>
              </a:ext>
            </a:extLst>
          </p:cNvPr>
          <p:cNvGraphicFramePr>
            <a:graphicFrameLocks noGrp="1"/>
          </p:cNvGraphicFramePr>
          <p:nvPr>
            <p:extLst>
              <p:ext uri="{D42A27DB-BD31-4B8C-83A1-F6EECF244321}">
                <p14:modId xmlns:p14="http://schemas.microsoft.com/office/powerpoint/2010/main" val="1413501064"/>
              </p:ext>
            </p:extLst>
          </p:nvPr>
        </p:nvGraphicFramePr>
        <p:xfrm>
          <a:off x="304800" y="1905000"/>
          <a:ext cx="8534400" cy="4536835"/>
        </p:xfrm>
        <a:graphic>
          <a:graphicData uri="http://schemas.openxmlformats.org/drawingml/2006/table">
            <a:tbl>
              <a:tblPr firstRow="1" bandRow="1">
                <a:tableStyleId>{5C22544A-7EE6-4342-B048-85BDC9FD1C3A}</a:tableStyleId>
              </a:tblPr>
              <a:tblGrid>
                <a:gridCol w="1981199">
                  <a:extLst>
                    <a:ext uri="{9D8B030D-6E8A-4147-A177-3AD203B41FA5}">
                      <a16:colId xmlns:a16="http://schemas.microsoft.com/office/drawing/2014/main" val="4189010889"/>
                    </a:ext>
                  </a:extLst>
                </a:gridCol>
                <a:gridCol w="3429000">
                  <a:extLst>
                    <a:ext uri="{9D8B030D-6E8A-4147-A177-3AD203B41FA5}">
                      <a16:colId xmlns:a16="http://schemas.microsoft.com/office/drawing/2014/main" val="3685463724"/>
                    </a:ext>
                  </a:extLst>
                </a:gridCol>
                <a:gridCol w="3124201">
                  <a:extLst>
                    <a:ext uri="{9D8B030D-6E8A-4147-A177-3AD203B41FA5}">
                      <a16:colId xmlns:a16="http://schemas.microsoft.com/office/drawing/2014/main" val="2161707806"/>
                    </a:ext>
                  </a:extLst>
                </a:gridCol>
              </a:tblGrid>
              <a:tr h="1034940">
                <a:tc>
                  <a:txBody>
                    <a:bodyPr/>
                    <a:lstStyle/>
                    <a:p>
                      <a:r>
                        <a:rPr lang="en-US" b="0" dirty="0">
                          <a:solidFill>
                            <a:schemeClr val="tx1"/>
                          </a:solidFill>
                          <a:latin typeface="Times New Roman" panose="02020603050405020304" pitchFamily="18" charset="0"/>
                          <a:cs typeface="Times New Roman" panose="02020603050405020304" pitchFamily="18" charset="0"/>
                        </a:rPr>
                        <a:t>Ease of 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b="0" dirty="0">
                          <a:solidFill>
                            <a:schemeClr val="tx1"/>
                          </a:solidFill>
                          <a:latin typeface="Times New Roman" panose="02020603050405020304" pitchFamily="18" charset="0"/>
                          <a:cs typeface="Times New Roman" panose="02020603050405020304" pitchFamily="18" charset="0"/>
                        </a:rPr>
                        <a:t>Wearable IMU and EMG sensors with simple movement recording interface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b="0" dirty="0">
                          <a:solidFill>
                            <a:schemeClr val="tx1"/>
                          </a:solidFill>
                          <a:latin typeface="Times New Roman" panose="02020603050405020304" pitchFamily="18" charset="0"/>
                          <a:cs typeface="Times New Roman" panose="02020603050405020304" pitchFamily="18" charset="0"/>
                        </a:rPr>
                        <a:t>Easy for patients, therapists, and researchers to operate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3247280"/>
                  </a:ext>
                </a:extLst>
              </a:tr>
              <a:tr h="946458">
                <a:tc>
                  <a:txBody>
                    <a:bodyPr/>
                    <a:lstStyle/>
                    <a:p>
                      <a:r>
                        <a:rPr lang="en-US" b="0" dirty="0">
                          <a:latin typeface="Times New Roman" panose="02020603050405020304" pitchFamily="18" charset="0"/>
                          <a:cs typeface="Times New Roman" panose="02020603050405020304" pitchFamily="18" charset="0"/>
                        </a:rPr>
                        <a:t>Accessibility</a:t>
                      </a:r>
                      <a:endParaRPr 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b="0" dirty="0">
                          <a:solidFill>
                            <a:schemeClr val="tx1"/>
                          </a:solidFill>
                          <a:latin typeface="Times New Roman" panose="02020603050405020304" pitchFamily="18" charset="0"/>
                          <a:cs typeface="Times New Roman" panose="02020603050405020304" pitchFamily="18" charset="0"/>
                        </a:rPr>
                        <a:t>Portable system using lightweight sensors and laptop/mobile integration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Available to players everywhere with smartphones</a:t>
                      </a:r>
                      <a:endParaRPr 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2123678"/>
                  </a:ext>
                </a:extLst>
              </a:tr>
              <a:tr h="946458">
                <a:tc>
                  <a:txBody>
                    <a:bodyPr/>
                    <a:lstStyle/>
                    <a:p>
                      <a:r>
                        <a:rPr lang="en-US" b="0" dirty="0">
                          <a:latin typeface="Times New Roman" panose="02020603050405020304" pitchFamily="18" charset="0"/>
                          <a:cs typeface="Times New Roman" panose="02020603050405020304" pitchFamily="18" charset="0"/>
                        </a:rPr>
                        <a:t>Performance</a:t>
                      </a:r>
                      <a:endParaRPr 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eal-time elbow movement monitoring and abnormality detection using AI</a:t>
                      </a:r>
                      <a:endParaRPr 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dirty="0">
                          <a:latin typeface="Times New Roman" panose="02020603050405020304" pitchFamily="18" charset="0"/>
                          <a:cs typeface="Times New Roman" panose="02020603050405020304" pitchFamily="18" charset="0"/>
                        </a:rPr>
                        <a:t>Provides fast feedback during rehabilitation exercises</a:t>
                      </a:r>
                      <a:endParaRPr 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0084474"/>
                  </a:ext>
                </a:extLst>
              </a:tr>
              <a:tr h="946458">
                <a:tc>
                  <a:txBody>
                    <a:bodyPr/>
                    <a:lstStyle/>
                    <a:p>
                      <a:r>
                        <a:rPr lang="en-US" b="0" dirty="0">
                          <a:latin typeface="Times New Roman" panose="02020603050405020304" pitchFamily="18" charset="0"/>
                          <a:cs typeface="Times New Roman" panose="02020603050405020304" pitchFamily="18" charset="0"/>
                        </a:rPr>
                        <a:t>Maintenance</a:t>
                      </a:r>
                      <a:endParaRPr 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dirty="0">
                          <a:latin typeface="Times New Roman" panose="02020603050405020304" pitchFamily="18" charset="0"/>
                          <a:cs typeface="Times New Roman" panose="02020603050405020304" pitchFamily="18" charset="0"/>
                        </a:rPr>
                        <a:t>Modular sensor setup with open-source software tools</a:t>
                      </a:r>
                      <a:endParaRPr lang="en-US"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dirty="0">
                          <a:latin typeface="Times New Roman" panose="02020603050405020304" pitchFamily="18" charset="0"/>
                          <a:cs typeface="Times New Roman" panose="02020603050405020304" pitchFamily="18" charset="0"/>
                        </a:rPr>
                        <a:t>Easy to update models, recalibrate sensors, and replace components</a:t>
                      </a:r>
                      <a:endParaRPr 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926877"/>
                  </a:ext>
                </a:extLst>
              </a:tr>
              <a:tr h="662521">
                <a:tc>
                  <a:txBody>
                    <a:bodyPr/>
                    <a:lstStyle/>
                    <a:p>
                      <a:r>
                        <a:rPr lang="en-US" b="0" dirty="0">
                          <a:latin typeface="Times New Roman" panose="02020603050405020304" pitchFamily="18" charset="0"/>
                          <a:cs typeface="Times New Roman" panose="02020603050405020304" pitchFamily="18" charset="0"/>
                        </a:rPr>
                        <a:t>Adoption Potential</a:t>
                      </a:r>
                      <a:endParaRPr 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dirty="0">
                          <a:latin typeface="Times New Roman" panose="02020603050405020304" pitchFamily="18" charset="0"/>
                          <a:cs typeface="Times New Roman" panose="02020603050405020304" pitchFamily="18" charset="0"/>
                        </a:rPr>
                        <a:t>AI-assisted rehabilitation improves exercise assessment accuracy</a:t>
                      </a:r>
                      <a:endParaRPr 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dirty="0">
                          <a:latin typeface="Times New Roman" panose="02020603050405020304" pitchFamily="18" charset="0"/>
                          <a:cs typeface="Times New Roman" panose="02020603050405020304" pitchFamily="18" charset="0"/>
                        </a:rPr>
                        <a:t>Encourages consistent and guided rehabilitation exercises</a:t>
                      </a:r>
                      <a:endParaRPr 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263564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Schedule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25</a:t>
            </a:fld>
            <a:endParaRPr lang="en-US">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78C4B21C-7C16-6C7F-0798-1D5D815843E8}"/>
              </a:ext>
            </a:extLst>
          </p:cNvPr>
          <p:cNvPicPr>
            <a:picLocks noGrp="1" noChangeAspect="1"/>
          </p:cNvPicPr>
          <p:nvPr>
            <p:ph idx="1"/>
          </p:nvPr>
        </p:nvPicPr>
        <p:blipFill>
          <a:blip r:embed="rId2"/>
          <a:stretch>
            <a:fillRect/>
          </a:stretch>
        </p:blipFill>
        <p:spPr>
          <a:xfrm>
            <a:off x="304800" y="1417638"/>
            <a:ext cx="8534400" cy="45259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latin typeface="Times New Roman" panose="02020603050405020304" pitchFamily="18" charset="0"/>
                <a:cs typeface="Times New Roman" panose="02020603050405020304" pitchFamily="18" charset="0"/>
              </a:rPr>
              <a:t>Tasks for 1st Iteration (or 30%)</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SRS</a:t>
            </a:r>
          </a:p>
          <a:p>
            <a:pPr>
              <a:lnSpc>
                <a:spcPct val="150000"/>
              </a:lnSpc>
            </a:pPr>
            <a:r>
              <a:rPr lang="en-US" sz="2000" dirty="0">
                <a:latin typeface="Times New Roman" panose="02020603050405020304" pitchFamily="18" charset="0"/>
                <a:cs typeface="Times New Roman" panose="02020603050405020304" pitchFamily="18" charset="0"/>
              </a:rPr>
              <a:t>SDD</a:t>
            </a:r>
          </a:p>
          <a:p>
            <a:pPr>
              <a:lnSpc>
                <a:spcPct val="150000"/>
              </a:lnSpc>
            </a:pPr>
            <a:r>
              <a:rPr lang="en-US" sz="2000" dirty="0">
                <a:latin typeface="Times New Roman" panose="02020603050405020304" pitchFamily="18" charset="0"/>
                <a:cs typeface="Times New Roman" panose="02020603050405020304" pitchFamily="18" charset="0"/>
              </a:rPr>
              <a:t>Frontend of </a:t>
            </a:r>
            <a:r>
              <a:rPr lang="en-US" sz="2000" dirty="0" err="1">
                <a:latin typeface="Times New Roman" panose="02020603050405020304" pitchFamily="18" charset="0"/>
                <a:cs typeface="Times New Roman" panose="02020603050405020304" pitchFamily="18" charset="0"/>
              </a:rPr>
              <a:t>Inteli</a:t>
            </a:r>
            <a:r>
              <a:rPr lang="en-US" sz="2000" dirty="0">
                <a:latin typeface="Times New Roman" panose="02020603050405020304" pitchFamily="18" charset="0"/>
                <a:cs typeface="Times New Roman" panose="02020603050405020304" pitchFamily="18" charset="0"/>
              </a:rPr>
              <a:t>-rehab mobile application</a:t>
            </a:r>
          </a:p>
          <a:p>
            <a:pPr>
              <a:lnSpc>
                <a:spcPct val="150000"/>
              </a:lnSpc>
            </a:pPr>
            <a:r>
              <a:rPr lang="en-US" sz="2000" dirty="0">
                <a:latin typeface="Times New Roman" panose="02020603050405020304" pitchFamily="18" charset="0"/>
                <a:cs typeface="Times New Roman" panose="02020603050405020304" pitchFamily="18" charset="0"/>
              </a:rPr>
              <a:t>Wearable Hardware Prototype</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26</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08165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normAutofit/>
          </a:bodyPr>
          <a:lstStyle/>
          <a:p>
            <a:pPr algn="just">
              <a:lnSpc>
                <a:spcPct val="150000"/>
              </a:lnSpc>
            </a:pPr>
            <a:r>
              <a:rPr lang="en-US" sz="2000" dirty="0"/>
              <a:t>AI-based system for detecting abnormal upper limb movements using IMU and EMG sensors. </a:t>
            </a:r>
          </a:p>
          <a:p>
            <a:pPr algn="just">
              <a:lnSpc>
                <a:spcPct val="150000"/>
              </a:lnSpc>
            </a:pPr>
            <a:r>
              <a:rPr lang="en-US" sz="2000" dirty="0"/>
              <a:t>Uses AI Model for anomaly detection in rehabilitation exercises. </a:t>
            </a:r>
          </a:p>
          <a:p>
            <a:pPr algn="just">
              <a:lnSpc>
                <a:spcPct val="150000"/>
              </a:lnSpc>
            </a:pPr>
            <a:r>
              <a:rPr lang="en-US" sz="2000" dirty="0"/>
              <a:t>Feasible using low-cost hardware and open-source tools. </a:t>
            </a:r>
          </a:p>
          <a:p>
            <a:pPr algn="just">
              <a:lnSpc>
                <a:spcPct val="150000"/>
              </a:lnSpc>
            </a:pPr>
            <a:r>
              <a:rPr lang="en-US" sz="2000" dirty="0"/>
              <a:t>Incremental model ensures systematic development and testing.</a:t>
            </a:r>
          </a:p>
          <a:p>
            <a:pPr algn="just">
              <a:lnSpc>
                <a:spcPct val="150000"/>
              </a:lnSpc>
            </a:pPr>
            <a:r>
              <a:rPr lang="en-US" sz="2000" dirty="0"/>
              <a:t>Useful for physiotherapy and rehabilitation monitoring.</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27</a:t>
            </a:fld>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2436</TotalTime>
  <Words>1662</Words>
  <Application>Microsoft Office PowerPoint</Application>
  <PresentationFormat>On-screen Show (4:3)</PresentationFormat>
  <Paragraphs>270</Paragraphs>
  <Slides>27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Tahoma</vt:lpstr>
      <vt:lpstr>Times New Roman</vt:lpstr>
      <vt:lpstr>Office Theme</vt:lpstr>
      <vt:lpstr>INTELI-REHAB  A Smart Wearable Rehabilitation System </vt:lpstr>
      <vt:lpstr>Agenda of the Presentation</vt:lpstr>
      <vt:lpstr>Motivation</vt:lpstr>
      <vt:lpstr>Motivation (cont’d)</vt:lpstr>
      <vt:lpstr>Brief Introduction</vt:lpstr>
      <vt:lpstr>Scope (What the System Will Do)</vt:lpstr>
      <vt:lpstr>Scope (What the System Will Do) (cont’d)</vt:lpstr>
      <vt:lpstr>Scope (What the System Will Do) (cont’d)</vt:lpstr>
      <vt:lpstr>Scope (What the System Will Do) (cont’d)</vt:lpstr>
      <vt:lpstr>Scope (What the System Will Not Do) (cont’d)</vt:lpstr>
      <vt:lpstr>Functionalities</vt:lpstr>
      <vt:lpstr>Functionalities (cont’d)</vt:lpstr>
      <vt:lpstr>Functionalities (cont’d)</vt:lpstr>
      <vt:lpstr>Functionalities (cont’d)</vt:lpstr>
      <vt:lpstr>Functionalities (cont’d)</vt:lpstr>
      <vt:lpstr>Functionalities (cont’d)</vt:lpstr>
      <vt:lpstr>Functionalities (cont’d)</vt:lpstr>
      <vt:lpstr>Functionalities (cont’d)</vt:lpstr>
      <vt:lpstr>Functionalities (cont’d)</vt:lpstr>
      <vt:lpstr>Proposed Tools/Platform</vt:lpstr>
      <vt:lpstr>Feasibility </vt:lpstr>
      <vt:lpstr>Feasibility </vt:lpstr>
      <vt:lpstr>Feasibility </vt:lpstr>
      <vt:lpstr>Feasibility </vt:lpstr>
      <vt:lpstr>Schedule </vt:lpstr>
      <vt:lpstr>Tasks for 1st Iteration (or 30%)</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USER</dc:creator>
  <cp:lastModifiedBy>Tehreem Zaheer</cp:lastModifiedBy>
  <cp:revision>108</cp:revision>
  <dcterms:created xsi:type="dcterms:W3CDTF">2013-09-23T09:08:15Z</dcterms:created>
  <dcterms:modified xsi:type="dcterms:W3CDTF">2026-05-13T05:53:45Z</dcterms:modified>
</cp:coreProperties>
</file>