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0" y="2103120"/>
            <a:ext cx="9144000" cy="822960"/>
          </a:xfrm>
          <a:prstGeom prst="rect">
            <a:avLst/>
          </a:prstGeom>
          <a:noFill/>
          <a:ln/>
        </p:spPr>
        <p:txBody>
          <a:bodyPr wrap="square" rtlCol="0" anchor="ctr"/>
          <a:lstStyle/>
          <a:p>
            <a:pPr algn="ctr" indent="0" marL="0">
              <a:buNone/>
            </a:pPr>
            <a:r>
              <a:rPr lang="en-US" sz="4000" b="1" dirty="0">
                <a:solidFill>
                  <a:srgbClr val="000000"/>
                </a:solidFill>
                <a:latin typeface="Arial" pitchFamily="34" charset="0"/>
                <a:ea typeface="Arial" pitchFamily="34" charset="-122"/>
                <a:cs typeface="Arial" pitchFamily="34" charset="-120"/>
              </a:rPr>
              <a:t>INTELI-REHAB</a:t>
            </a:r>
            <a:endParaRPr lang="en-US" sz="4000" dirty="0"/>
          </a:p>
        </p:txBody>
      </p:sp>
      <p:sp>
        <p:nvSpPr>
          <p:cNvPr id="3" name="Text 1"/>
          <p:cNvSpPr txBox="1"/>
          <p:nvPr/>
        </p:nvSpPr>
        <p:spPr>
          <a:xfrm>
            <a:off x="0" y="2880360"/>
            <a:ext cx="9144000" cy="457200"/>
          </a:xfrm>
          <a:prstGeom prst="rect">
            <a:avLst/>
          </a:prstGeom>
          <a:noFill/>
          <a:ln/>
        </p:spPr>
        <p:txBody>
          <a:bodyPr wrap="square" rtlCol="0" anchor="ctr"/>
          <a:lstStyle/>
          <a:p>
            <a:pPr algn="ctr" indent="0" marL="0">
              <a:buNone/>
            </a:pPr>
            <a:r>
              <a:rPr lang="en-US" sz="2000" i="1" dirty="0">
                <a:solidFill>
                  <a:srgbClr val="595959"/>
                </a:solidFill>
                <a:latin typeface="Times New Roman" pitchFamily="34" charset="0"/>
                <a:ea typeface="Times New Roman" pitchFamily="34" charset="-122"/>
                <a:cs typeface="Times New Roman" pitchFamily="34" charset="-120"/>
              </a:rPr>
              <a:t>A Smart Wearable Rehabilitation System</a:t>
            </a:r>
            <a:endParaRPr lang="en-US" sz="2000" dirty="0"/>
          </a:p>
        </p:txBody>
      </p:sp>
      <p:sp>
        <p:nvSpPr>
          <p:cNvPr id="4" name="Text 2"/>
          <p:cNvSpPr txBox="1"/>
          <p:nvPr/>
        </p:nvSpPr>
        <p:spPr>
          <a:xfrm>
            <a:off x="2468880" y="3749040"/>
            <a:ext cx="2377440" cy="1005840"/>
          </a:xfrm>
          <a:prstGeom prst="rect">
            <a:avLst/>
          </a:prstGeom>
          <a:noFill/>
          <a:ln/>
        </p:spPr>
        <p:txBody>
          <a:bodyPr wrap="square" rtlCol="0" anchor="ctr"/>
          <a:lstStyle/>
          <a:p>
            <a:pPr algn="l" indent="0" marL="0">
              <a:lnSpc>
                <a:spcPts val="2400"/>
              </a:lnSpc>
              <a:buNone/>
            </a:pPr>
            <a:r>
              <a:rPr lang="en-US" sz="1400" dirty="0">
                <a:solidFill>
                  <a:srgbClr val="000000"/>
                </a:solidFill>
                <a:latin typeface="Times New Roman" pitchFamily="34" charset="0"/>
                <a:ea typeface="Times New Roman" pitchFamily="34" charset="-122"/>
                <a:cs typeface="Times New Roman" pitchFamily="34" charset="-120"/>
              </a:rPr>
              <a:t>Tehreem Zaheer</a:t>
            </a:r>
            <a:endParaRPr lang="en-US" sz="1400" dirty="0"/>
          </a:p>
          <a:p>
            <a:pPr algn="l" indent="0" marL="0">
              <a:lnSpc>
                <a:spcPts val="2400"/>
              </a:lnSpc>
              <a:buNone/>
            </a:pPr>
            <a:r>
              <a:rPr lang="en-US" sz="1400" dirty="0">
                <a:solidFill>
                  <a:srgbClr val="000000"/>
                </a:solidFill>
                <a:latin typeface="Times New Roman" pitchFamily="34" charset="0"/>
                <a:ea typeface="Times New Roman" pitchFamily="34" charset="-122"/>
                <a:cs typeface="Times New Roman" pitchFamily="34" charset="-120"/>
              </a:rPr>
              <a:t>Kashmala Zeb</a:t>
            </a:r>
            <a:endParaRPr lang="en-US" sz="1400" dirty="0"/>
          </a:p>
          <a:p>
            <a:pPr algn="l" indent="0" marL="0">
              <a:lnSpc>
                <a:spcPts val="2400"/>
              </a:lnSpc>
              <a:buNone/>
            </a:pPr>
            <a:r>
              <a:rPr lang="en-US" sz="1400" dirty="0">
                <a:solidFill>
                  <a:srgbClr val="000000"/>
                </a:solidFill>
                <a:latin typeface="Times New Roman" pitchFamily="34" charset="0"/>
                <a:ea typeface="Times New Roman" pitchFamily="34" charset="-122"/>
                <a:cs typeface="Times New Roman" pitchFamily="34" charset="-120"/>
              </a:rPr>
              <a:t>Ahmed Irshad</a:t>
            </a:r>
            <a:endParaRPr lang="en-US" sz="1400" dirty="0"/>
          </a:p>
        </p:txBody>
      </p:sp>
      <p:sp>
        <p:nvSpPr>
          <p:cNvPr id="5" name="Text 3"/>
          <p:cNvSpPr txBox="1"/>
          <p:nvPr/>
        </p:nvSpPr>
        <p:spPr>
          <a:xfrm>
            <a:off x="4846320" y="3749040"/>
            <a:ext cx="2377440" cy="1005840"/>
          </a:xfrm>
          <a:prstGeom prst="rect">
            <a:avLst/>
          </a:prstGeom>
          <a:noFill/>
          <a:ln/>
        </p:spPr>
        <p:txBody>
          <a:bodyPr wrap="square" rtlCol="0" anchor="ctr"/>
          <a:lstStyle/>
          <a:p>
            <a:pPr algn="l" indent="0" marL="0">
              <a:lnSpc>
                <a:spcPts val="2400"/>
              </a:lnSpc>
              <a:buNone/>
            </a:pPr>
            <a:r>
              <a:rPr lang="en-US" sz="1400" dirty="0">
                <a:solidFill>
                  <a:srgbClr val="595959"/>
                </a:solidFill>
                <a:latin typeface="Times New Roman" pitchFamily="34" charset="0"/>
                <a:ea typeface="Times New Roman" pitchFamily="34" charset="-122"/>
                <a:cs typeface="Times New Roman" pitchFamily="34" charset="-120"/>
              </a:rPr>
              <a:t>CIIT/SP23-BCS-131/ATD</a:t>
            </a:r>
            <a:endParaRPr lang="en-US" sz="1400" dirty="0"/>
          </a:p>
          <a:p>
            <a:pPr algn="l" indent="0" marL="0">
              <a:lnSpc>
                <a:spcPts val="2400"/>
              </a:lnSpc>
              <a:buNone/>
            </a:pPr>
            <a:r>
              <a:rPr lang="en-US" sz="1400" dirty="0">
                <a:solidFill>
                  <a:srgbClr val="595959"/>
                </a:solidFill>
                <a:latin typeface="Times New Roman" pitchFamily="34" charset="0"/>
                <a:ea typeface="Times New Roman" pitchFamily="34" charset="-122"/>
                <a:cs typeface="Times New Roman" pitchFamily="34" charset="-120"/>
              </a:rPr>
              <a:t>CIIT/SP23-BSE-048/ATD</a:t>
            </a:r>
            <a:endParaRPr lang="en-US" sz="1400" dirty="0"/>
          </a:p>
          <a:p>
            <a:pPr algn="l" indent="0" marL="0">
              <a:lnSpc>
                <a:spcPts val="2400"/>
              </a:lnSpc>
              <a:buNone/>
            </a:pPr>
            <a:r>
              <a:rPr lang="en-US" sz="1400" dirty="0">
                <a:solidFill>
                  <a:srgbClr val="595959"/>
                </a:solidFill>
                <a:latin typeface="Times New Roman" pitchFamily="34" charset="0"/>
                <a:ea typeface="Times New Roman" pitchFamily="34" charset="-122"/>
                <a:cs typeface="Times New Roman" pitchFamily="34" charset="-120"/>
              </a:rPr>
              <a:t>CIIT/SP23-BSE-045/ATD</a:t>
            </a:r>
            <a:endParaRPr lang="en-US" sz="1400" dirty="0"/>
          </a:p>
        </p:txBody>
      </p:sp>
      <p:sp>
        <p:nvSpPr>
          <p:cNvPr id="6" name="Text 4"/>
          <p:cNvSpPr txBox="1"/>
          <p:nvPr/>
        </p:nvSpPr>
        <p:spPr>
          <a:xfrm>
            <a:off x="0" y="4892040"/>
            <a:ext cx="9144000" cy="365760"/>
          </a:xfrm>
          <a:prstGeom prst="rect">
            <a:avLst/>
          </a:prstGeom>
          <a:noFill/>
          <a:ln/>
        </p:spPr>
        <p:txBody>
          <a:bodyPr wrap="square" rtlCol="0" anchor="ctr"/>
          <a:lstStyle/>
          <a:p>
            <a:pPr algn="ctr" indent="0" marL="0">
              <a:buNone/>
            </a:pPr>
            <a:r>
              <a:rPr lang="en-US" sz="1500" b="1" i="1" dirty="0">
                <a:solidFill>
                  <a:srgbClr val="000000"/>
                </a:solidFill>
                <a:latin typeface="Times New Roman" pitchFamily="34" charset="0"/>
                <a:ea typeface="Times New Roman" pitchFamily="34" charset="-122"/>
                <a:cs typeface="Times New Roman" pitchFamily="34" charset="-120"/>
              </a:rPr>
              <a:t>Supervisor: Dr. Ahmad Khan</a:t>
            </a:r>
            <a:endParaRPr lang="en-US" sz="1500" dirty="0"/>
          </a:p>
        </p:txBody>
      </p:sp>
      <p:sp>
        <p:nvSpPr>
          <p:cNvPr id="7" name="Text 5"/>
          <p:cNvSpPr txBox="1"/>
          <p:nvPr/>
        </p:nvSpPr>
        <p:spPr>
          <a:xfrm>
            <a:off x="0" y="6126480"/>
            <a:ext cx="9144000" cy="548640"/>
          </a:xfrm>
          <a:prstGeom prst="rect">
            <a:avLst/>
          </a:prstGeom>
          <a:noFill/>
          <a:ln/>
        </p:spPr>
        <p:txBody>
          <a:bodyPr wrap="square" rtlCol="0" anchor="ctr"/>
          <a:lstStyle/>
          <a:p>
            <a:pPr algn="ctr" indent="0" marL="0">
              <a:buNone/>
            </a:pPr>
            <a:r>
              <a:rPr lang="en-US" sz="1200" dirty="0">
                <a:solidFill>
                  <a:srgbClr val="595959"/>
                </a:solidFill>
                <a:latin typeface="Times New Roman" pitchFamily="34" charset="0"/>
                <a:ea typeface="Times New Roman" pitchFamily="34" charset="-122"/>
                <a:cs typeface="Times New Roman" pitchFamily="34" charset="-120"/>
              </a:rPr>
              <a:t>Department of Computer Science</a:t>
            </a:r>
            <a:endParaRPr lang="en-US" sz="1200" dirty="0"/>
          </a:p>
          <a:p>
            <a:pPr algn="ctr" indent="0" marL="0">
              <a:buNone/>
            </a:pPr>
            <a:r>
              <a:rPr lang="en-US" sz="1200" dirty="0">
                <a:solidFill>
                  <a:srgbClr val="595959"/>
                </a:solidFill>
                <a:latin typeface="Times New Roman" pitchFamily="34" charset="0"/>
                <a:ea typeface="Times New Roman" pitchFamily="34" charset="-122"/>
                <a:cs typeface="Times New Roman" pitchFamily="34" charset="-120"/>
              </a:rPr>
              <a:t>COMSATS University Islamabad, Abbottabad Campus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icon_agenda.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Agenda</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Brief Introduction</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Scope (In-scope / Out-of-scope)</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Functional &amp; Non-Functional Requirements</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Use Case Diagram</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Class Diagram</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ER Diagram</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System Architecture Diagram</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Schedule</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Iteration Details</a:t>
            </a:r>
            <a:endParaRPr lang="en-US" sz="1800" dirty="0"/>
          </a:p>
          <a:p>
            <a:pPr marL="342900" indent="-342900">
              <a:spcAft>
                <a:spcPts val="1400"/>
              </a:spcAft>
              <a:buSzPct val="100000"/>
              <a:buChar char="•"/>
            </a:pPr>
            <a:r>
              <a:rPr lang="en-US" sz="1800" dirty="0">
                <a:solidFill>
                  <a:srgbClr val="000000"/>
                </a:solidFill>
                <a:latin typeface="Times New Roman" pitchFamily="34" charset="0"/>
                <a:ea typeface="Times New Roman" pitchFamily="34" charset="-122"/>
                <a:cs typeface="Times New Roman" pitchFamily="34" charset="-120"/>
              </a:rPr>
              <a:t>Conclusion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icon_intro.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Brief Introduction</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Smart wearable rehabilitation platform for upper-limb recovery exercises</a:t>
            </a:r>
            <a:endParaRPr lang="en-US" sz="1700" dirty="0"/>
          </a:p>
          <a:p>
            <a:pPr marL="342900" indent="-342900">
              <a:spcAft>
                <a:spcPts val="16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Wearable armband: dual IMU + dual-channel EMG on a BLE-enabled ESP32</a:t>
            </a:r>
            <a:endParaRPr lang="en-US" sz="1700" dirty="0"/>
          </a:p>
          <a:p>
            <a:pPr marL="342900" indent="-342900">
              <a:spcAft>
                <a:spcPts val="16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Flutter mobile app for sensor connectivity, guided sessions, and live 3D Digital Twin visualization</a:t>
            </a:r>
            <a:endParaRPr lang="en-US" sz="1700" dirty="0"/>
          </a:p>
          <a:p>
            <a:pPr marL="342900" indent="-342900">
              <a:spcAft>
                <a:spcPts val="16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Movement and fatigue evaluated against physiotherapist-defined targets, with real-time corrective feedback</a:t>
            </a:r>
            <a:endParaRPr lang="en-US" sz="1700" dirty="0"/>
          </a:p>
          <a:p>
            <a:pPr marL="342900" indent="-342900">
              <a:spcAft>
                <a:spcPts val="16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Web dashboards let physiotherapists monitor remotely and clinics manage physiotherapist accounts</a:t>
            </a:r>
            <a:endParaRPr lang="en-US" sz="1700" dirty="0"/>
          </a:p>
          <a:p>
            <a:pPr marL="342900" indent="-342900">
              <a:spcAft>
                <a:spcPts val="1600"/>
              </a:spcAft>
              <a:buSzPct val="100000"/>
              <a:buChar char="•"/>
            </a:pPr>
            <a:r>
              <a:rPr lang="en-US" sz="1700" dirty="0">
                <a:solidFill>
                  <a:srgbClr val="000000"/>
                </a:solidFill>
                <a:latin typeface="Times New Roman" pitchFamily="34" charset="0"/>
                <a:ea typeface="Times New Roman" pitchFamily="34" charset="-122"/>
                <a:cs typeface="Times New Roman" pitchFamily="34" charset="-120"/>
              </a:rPr>
              <a:t>Supabase (PostgreSQL) backend with row-level security, scoped by role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icon_scope.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Scope</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800" b="1" i="1" dirty="0">
                <a:solidFill>
                  <a:srgbClr val="000000"/>
                </a:solidFill>
                <a:latin typeface="Times New Roman" pitchFamily="34" charset="0"/>
                <a:ea typeface="Times New Roman" pitchFamily="34" charset="-122"/>
                <a:cs typeface="Times New Roman" pitchFamily="34" charset="-120"/>
              </a:rPr>
              <a:t>In Scope:</a:t>
            </a:r>
            <a:endParaRPr lang="en-US" sz="1800" dirty="0"/>
          </a:p>
          <a:p>
            <a:pPr marL="228600" indent="-228600">
              <a:spcAft>
                <a:spcPts val="1000"/>
              </a:spcAft>
              <a:buSzPct val="100000"/>
              <a:buChar char="–"/>
            </a:pPr>
            <a:r>
              <a:rPr lang="en-US" sz="1500" dirty="0">
                <a:solidFill>
                  <a:srgbClr val="000000"/>
                </a:solidFill>
                <a:latin typeface="Times New Roman" pitchFamily="34" charset="0"/>
                <a:ea typeface="Times New Roman" pitchFamily="34" charset="-122"/>
                <a:cs typeface="Times New Roman" pitchFamily="34" charset="-120"/>
              </a:rPr>
              <a:t>Wearable prototype: dual IMU (MPU6500), dual-channel EMG, BLE-enabled ESP32 microcontroller</a:t>
            </a:r>
            <a:endParaRPr lang="en-US" sz="1800" dirty="0"/>
          </a:p>
          <a:p>
            <a:pPr marL="228600" indent="-228600">
              <a:spcAft>
                <a:spcPts val="1000"/>
              </a:spcAft>
              <a:buSzPct val="100000"/>
              <a:buChar char="–"/>
            </a:pPr>
            <a:r>
              <a:rPr lang="en-US" sz="1500" dirty="0">
                <a:solidFill>
                  <a:srgbClr val="000000"/>
                </a:solidFill>
                <a:latin typeface="Times New Roman" pitchFamily="34" charset="0"/>
                <a:ea typeface="Times New Roman" pitchFamily="34" charset="-122"/>
                <a:cs typeface="Times New Roman" pitchFamily="34" charset="-120"/>
              </a:rPr>
              <a:t>Flutter mobile app: device pairing, calibration, guided exercise sessions</a:t>
            </a:r>
            <a:endParaRPr lang="en-US" sz="1800" dirty="0"/>
          </a:p>
          <a:p>
            <a:pPr marL="228600" indent="-228600">
              <a:spcAft>
                <a:spcPts val="1000"/>
              </a:spcAft>
              <a:buSzPct val="100000"/>
              <a:buChar char="–"/>
            </a:pPr>
            <a:r>
              <a:rPr lang="en-US" sz="1500" dirty="0">
                <a:solidFill>
                  <a:srgbClr val="000000"/>
                </a:solidFill>
                <a:latin typeface="Times New Roman" pitchFamily="34" charset="0"/>
                <a:ea typeface="Times New Roman" pitchFamily="34" charset="-122"/>
                <a:cs typeface="Times New Roman" pitchFamily="34" charset="-120"/>
              </a:rPr>
              <a:t>Sensor fusion for joint angle and Range of Motion (ROM) computation</a:t>
            </a:r>
            <a:endParaRPr lang="en-US" sz="1800" dirty="0"/>
          </a:p>
          <a:p>
            <a:pPr marL="228600" indent="-228600">
              <a:spcAft>
                <a:spcPts val="1000"/>
              </a:spcAft>
              <a:buSzPct val="100000"/>
              <a:buChar char="–"/>
            </a:pPr>
            <a:r>
              <a:rPr lang="en-US" sz="1500" dirty="0">
                <a:solidFill>
                  <a:srgbClr val="000000"/>
                </a:solidFill>
                <a:latin typeface="Times New Roman" pitchFamily="34" charset="0"/>
                <a:ea typeface="Times New Roman" pitchFamily="34" charset="-122"/>
                <a:cs typeface="Times New Roman" pitchFamily="34" charset="-120"/>
              </a:rPr>
              <a:t>EMG signal processing: filtering, activation level, and fatigue estimation</a:t>
            </a:r>
            <a:endParaRPr lang="en-US" sz="1800" dirty="0"/>
          </a:p>
          <a:p>
            <a:pPr marL="228600" indent="-228600">
              <a:spcAft>
                <a:spcPts val="1000"/>
              </a:spcAft>
              <a:buSzPct val="100000"/>
              <a:buChar char="–"/>
            </a:pPr>
            <a:r>
              <a:rPr lang="en-US" sz="1500" dirty="0">
                <a:solidFill>
                  <a:srgbClr val="000000"/>
                </a:solidFill>
                <a:latin typeface="Times New Roman" pitchFamily="34" charset="0"/>
                <a:ea typeface="Times New Roman" pitchFamily="34" charset="-122"/>
                <a:cs typeface="Times New Roman" pitchFamily="34" charset="-120"/>
              </a:rPr>
              <a:t>Real-time 3D Digital Twin with colour-coded deviation feedback</a:t>
            </a:r>
            <a:endParaRPr lang="en-US" sz="1800" dirty="0"/>
          </a:p>
          <a:p>
            <a:pPr marL="228600" indent="-228600">
              <a:spcAft>
                <a:spcPts val="1000"/>
              </a:spcAft>
              <a:buSzPct val="100000"/>
              <a:buChar char="–"/>
            </a:pPr>
            <a:r>
              <a:rPr lang="en-US" sz="1500" dirty="0">
                <a:solidFill>
                  <a:srgbClr val="000000"/>
                </a:solidFill>
                <a:latin typeface="Times New Roman" pitchFamily="34" charset="0"/>
                <a:ea typeface="Times New Roman" pitchFamily="34" charset="-122"/>
                <a:cs typeface="Times New Roman" pitchFamily="34" charset="-120"/>
              </a:rPr>
              <a:t>Movement and fatigue evaluation against physiotherapist-defined targets, with corrective feedback</a:t>
            </a:r>
            <a:endParaRPr lang="en-US" sz="1800" dirty="0"/>
          </a:p>
          <a:p>
            <a:pPr marL="228600" indent="-228600">
              <a:spcAft>
                <a:spcPts val="1000"/>
              </a:spcAft>
              <a:buSzPct val="100000"/>
              <a:buChar char="–"/>
            </a:pPr>
            <a:r>
              <a:rPr lang="en-US" sz="1500" dirty="0">
                <a:solidFill>
                  <a:srgbClr val="000000"/>
                </a:solidFill>
                <a:latin typeface="Times New Roman" pitchFamily="34" charset="0"/>
                <a:ea typeface="Times New Roman" pitchFamily="34" charset="-122"/>
                <a:cs typeface="Times New Roman" pitchFamily="34" charset="-120"/>
              </a:rPr>
              <a:t>Gamification: repetition counting, performance scoring, badges and achievement levels</a:t>
            </a:r>
            <a:endParaRPr lang="en-US" sz="1800" dirty="0"/>
          </a:p>
          <a:p>
            <a:pPr marL="228600" indent="-228600">
              <a:spcAft>
                <a:spcPts val="1000"/>
              </a:spcAft>
              <a:buSzPct val="100000"/>
              <a:buChar char="–"/>
            </a:pPr>
            <a:r>
              <a:rPr lang="en-US" sz="1500" dirty="0">
                <a:solidFill>
                  <a:srgbClr val="000000"/>
                </a:solidFill>
                <a:latin typeface="Times New Roman" pitchFamily="34" charset="0"/>
                <a:ea typeface="Times New Roman" pitchFamily="34" charset="-122"/>
                <a:cs typeface="Times New Roman" pitchFamily="34" charset="-120"/>
              </a:rPr>
              <a:t>Supabase backend (auth, storage, sync) and physiotherapist / clinic web dashboards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icon_scope.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Scope (Cont.)</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800" b="1" i="1" dirty="0">
                <a:solidFill>
                  <a:srgbClr val="000000"/>
                </a:solidFill>
                <a:latin typeface="Times New Roman" pitchFamily="34" charset="0"/>
                <a:ea typeface="Times New Roman" pitchFamily="34" charset="-122"/>
                <a:cs typeface="Times New Roman" pitchFamily="34" charset="-120"/>
              </a:rPr>
              <a:t>Out of Scope:</a:t>
            </a:r>
            <a:endParaRPr lang="en-US" sz="1800" dirty="0"/>
          </a:p>
          <a:p>
            <a:pPr marL="228600" indent="-228600">
              <a:spcAft>
                <a:spcPts val="12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Live video-based pose estimation systems</a:t>
            </a:r>
            <a:endParaRPr lang="en-US" sz="1800" dirty="0"/>
          </a:p>
          <a:p>
            <a:pPr marL="228600" indent="-228600">
              <a:spcAft>
                <a:spcPts val="12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Clinical diagnostic capabilities beyond exercise guidance</a:t>
            </a:r>
            <a:endParaRPr lang="en-US" sz="1800" dirty="0"/>
          </a:p>
          <a:p>
            <a:pPr marL="228600" indent="-228600">
              <a:spcAft>
                <a:spcPts val="12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Integration with hospital electronic medical record (EMR) systems</a:t>
            </a:r>
            <a:endParaRPr lang="en-US" sz="1800" dirty="0"/>
          </a:p>
          <a:p>
            <a:pPr marL="228600" indent="-228600">
              <a:spcAft>
                <a:spcPts val="12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Physics-based biomechanical force simulations</a:t>
            </a:r>
            <a:endParaRPr lang="en-US" sz="1800" dirty="0"/>
          </a:p>
          <a:p>
            <a:pPr marL="228600" indent="-228600">
              <a:spcAft>
                <a:spcPts val="12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Medical prescriptions or replacement of professional clinical diagnosis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icon_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Functional Requirements</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822960"/>
                <a:gridCol w="2103120"/>
                <a:gridCol w="530352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ID</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Requirement</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Description</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Patient Registration and Login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allow patients to register and securely log in under an assigned physiotherapist from a selected clinic using authenticated credentials.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FR-2</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Role-Based Authentication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authenticate physiotherapists and clinic administrators using secure login credentials and provide access according to their assigned roles and permissions.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FR-3</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Patient Rehabilitation Profile Management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store and manage patient rehabilitation profiles, including injury type, affected joint, recovery stage, medical information, and assigned physiotherapist.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FR-4</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Rehabilitation Exercise Database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maintain a rehabilitation exercise database containing exercise descriptions, target joint movements, muscle activation information, rehabilitation instructions, and clinical guidelines.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FR-5</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Personalized Exercise Plan Management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enable physiotherapists to create, assign, modify, and manage personalized rehabilitation exercise plans, including repetitions, sets, session duration, recovery intervals, exercise frequency, and target ROM.</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icon_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Functional Requirements (Cont.)</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822960"/>
                <a:gridCol w="2103120"/>
                <a:gridCol w="530352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ID</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Requirement</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Description</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FR-6</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Exercise Plan Version Management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maintain version history for all rehabilitation exercise plans and protocol modifications, allowing physiotherapists to review previous versions and track treatment changes.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FR-7</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Wearable Device Connectivity</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establish and maintain Bluetooth Low Energy (BLE) communication between the wearable rehabilitation device and the mobile application before and during rehabilitation sessions.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FR-8</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Sensor Data Acquisition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continuously collect IMU and EMG sensor data during rehabilitation exercises and automatically reconnect the wearable device if Bluetooth communication is interrupted.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FR-9</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Sensor Calibration and Motion Processing</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guide patients through sensor calibration, establish biometric baselines, preprocess IMU and EMG signals, and estimate upper-limb orientation, joint angles, and movement parameters before sessions begin.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FR-10</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Rehabilitation Monitoring</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monitor shoulder and elbow movements in real time by calculating joint angles, repetition counts, rest intervals, and Range of Motion (ROM) throughout rehabilitation exercises.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icon_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Functional Requirements (Cont.)</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822960"/>
                <a:gridCol w="2103120"/>
                <a:gridCol w="530352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ID</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Requirement</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Description</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FR-11</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Progress Monitoring and Reporting</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maintain rehabilitation history and generate progress reports, including ROM trends, exercise performance statistics, rehabilitation progress, and recovery history for both patients and physiotherapists.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FR-12</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Digital Twin Visualization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generate a real-time three-dimensional (3D) Digital Twin of the patient's upper limb, displaying shoulder and elbow movements, muscle activation levels, and posture deviations during exercises.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FR-13</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AI Movement Assessment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analyze rehabilitation movements to detect abnormal movement patterns, incorrect posture, movement compensations, and deviations from prescribed rehabilitation exercises.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FR-14</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Corrective Feedback System</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provide real-time corrective feedback through visual indicators, voice guidance, and rehabilitation recommendations while recording detected movement anomalies for physiotherapist review.</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FR-15</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Fatigue Monitoring</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monitor muscle fatigue using EMG signals and provide progressive safety alerts, including visual notifications, voice warnings, and rehabilitation session pause recommendations when fatigue thresholds are exceeded.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icon_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Functional Requirements (Cont.)</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822960"/>
                <a:gridCol w="2103120"/>
                <a:gridCol w="530352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ID</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Requirement</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Description</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FR-16</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Physiotherapist Dashboard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provide a physiotherapist dashboard for monitoring patient adherence, rehabilitation performance, ROM progress, AI-generated alerts, rehabilitation history, and Digital Twin session summaries.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FR-17</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Rehabilitation Plan Management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allow physiotherapists to prescribe rehabilitation exercises, modify exercise plans, approve ROM targets, review rehabilitation session records, and adjust treatment plans based on patient progress.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FR-18</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Clinic Administration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provide a clinic administration panel for managing physiotherapist accounts, assigning physiotherapists to patients, activating or deactivating accounts, and maintaining clinic staff records.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FR-19</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Cloud Synchronization and Notifications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The system shall synchronize rehabilitation data with the cloud database and notify physiotherapists of significant patient events, including abnormal movement patterns, missed rehabilitation sessions, critical muscle fatigue alerts, and rehabilitation progress updates.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icon_n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Non-Functional Requirements</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700" b="1" i="1" dirty="0">
                <a:solidFill>
                  <a:srgbClr val="000000"/>
                </a:solidFill>
                <a:latin typeface="Times New Roman" pitchFamily="34" charset="0"/>
                <a:ea typeface="Times New Roman" pitchFamily="34" charset="-122"/>
                <a:cs typeface="Times New Roman" pitchFamily="34" charset="-120"/>
              </a:rPr>
              <a:t>Usability:</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provide an intuitive and responsive mobile and web interface that enables patients to start a rehabilitation session within three user interactions after logging in.</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display clear visual indicators, icons, and colour-coded feedback for exercise status, Digital Twin visualization, muscle activation, posture correction, and rehabilitation progress.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provide real-time visual and voice guidance during rehabilitation exercises to help patients perform movements correctly with minimal physiotherapist intervention.</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physiotherapist dashboard shall present rehabilitation progress, ROM trends, alerts, and patient performance using easy-to-understand charts and graphical reports.</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icon_n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Non-Functional Requirements (Cont.)</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700" b="1" i="1" dirty="0">
                <a:solidFill>
                  <a:srgbClr val="000000"/>
                </a:solidFill>
                <a:latin typeface="Times New Roman" pitchFamily="34" charset="0"/>
                <a:ea typeface="Times New Roman" pitchFamily="34" charset="-122"/>
                <a:cs typeface="Times New Roman" pitchFamily="34" charset="-120"/>
              </a:rPr>
              <a:t>Performance:</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establish a BLE connection with the wearable rehabilitation device within 5 seconds under normal operating conditions.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process IMU and EMG sensor data and update the Digital Twin visualization with an average latency of less than 10 milliseconds.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movement analysis module shall detect incorrect posture and movement abnormalities within 3 seconds of receiving sensor data.</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physiotherapist dashboard shall load patient rehabilitation history and progress reports within 3 seconds for datasets containing up to 100 rehabilitation sessions.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backend shall respond to standard API requests, including authentication, exercise plan management, and rehabilitation data retrieval, within 2 seconds under normal operating conditions.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icon_n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Non-Functional Requirements (Cont.)</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700" b="1" i="1" dirty="0">
                <a:solidFill>
                  <a:srgbClr val="000000"/>
                </a:solidFill>
                <a:latin typeface="Times New Roman" pitchFamily="34" charset="0"/>
                <a:ea typeface="Times New Roman" pitchFamily="34" charset="-122"/>
                <a:cs typeface="Times New Roman" pitchFamily="34" charset="-120"/>
              </a:rPr>
              <a:t>Reliability and Availability:</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maintain at least 99% availability during normal operation, excluding scheduled maintenance.</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In case of Bluetooth disconnection, the system shall automatically attempt to reconnect the wearable device without terminating the rehabilitation session.</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Rehabilitation session data shall be stored reliably to prevent loss during unexpected application or network failures.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display meaningful error messages and allow users to retry failed operations caused by temporary communication or server failures.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Patient profiles, rehabilitation history, and exercise plans shall be backed up automatically every 24 hours.</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icon_n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Non-Functional Requirements (Cont.)</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700" b="1" i="1" dirty="0">
                <a:solidFill>
                  <a:srgbClr val="000000"/>
                </a:solidFill>
                <a:latin typeface="Times New Roman" pitchFamily="34" charset="0"/>
                <a:ea typeface="Times New Roman" pitchFamily="34" charset="-122"/>
                <a:cs typeface="Times New Roman" pitchFamily="34" charset="-120"/>
              </a:rPr>
              <a:t>Security:</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implement Role-Based Access Control (RBAC) to restrict system functionality according to Patient, Physiotherapist, and Clinic Administrator roles.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User passwords shall be securely hashed before being stored in the database.</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User sessions shall automatically expire after 30 minutes of inactivity to prevent unauthorized access.</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icon_n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Non-Functional Requirements (Cont.)</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700" b="1" i="1" dirty="0">
                <a:solidFill>
                  <a:srgbClr val="000000"/>
                </a:solidFill>
                <a:latin typeface="Times New Roman" pitchFamily="34" charset="0"/>
                <a:ea typeface="Times New Roman" pitchFamily="34" charset="-122"/>
                <a:cs typeface="Times New Roman" pitchFamily="34" charset="-120"/>
              </a:rPr>
              <a:t>Scalability:</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architecture shall support adding multiple clinics, physiotherapists, and patients without requiring significant software modifications.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cloud database shall support efficient storage and retrieval of increasing rehabilitation records through optimized indexing techniques.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backend shall support concurrent rehabilitation sessions from multiple patients without significant degradation in performance.</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architecture shall support future integration with additional wearable sensors and rehabilitation modules.</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icon_n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Non-Functional Requirements (Cont.)</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700" b="1" i="1" dirty="0">
                <a:solidFill>
                  <a:srgbClr val="000000"/>
                </a:solidFill>
                <a:latin typeface="Times New Roman" pitchFamily="34" charset="0"/>
                <a:ea typeface="Times New Roman" pitchFamily="34" charset="-122"/>
                <a:cs typeface="Times New Roman" pitchFamily="34" charset="-120"/>
              </a:rPr>
              <a:t>Maintainability:</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be developed using a modular architecture, allowing independent updates to the mobile application, AI processing, Digital Twin visualization, physiotherapist dashboard, and cloud services.</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project source code shall follow standard coding conventions and include sufficient inline documentation for future maintenance.</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system shall support unit testing and integration testing to simplify software verification and regression testing.</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Software updates and bug fixes shall be managed using a Git-based version control system to ensure maintainability and traceability.</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icon_nfr.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Non-Functional Requirements (Cont.)</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indent="0" marL="0">
              <a:spcAft>
                <a:spcPts val="1000"/>
              </a:spcAft>
              <a:buNone/>
            </a:pPr>
            <a:r>
              <a:rPr lang="en-US" sz="1700" b="1" i="1" dirty="0">
                <a:solidFill>
                  <a:srgbClr val="000000"/>
                </a:solidFill>
                <a:latin typeface="Times New Roman" pitchFamily="34" charset="0"/>
                <a:ea typeface="Times New Roman" pitchFamily="34" charset="-122"/>
                <a:cs typeface="Times New Roman" pitchFamily="34" charset="-120"/>
              </a:rPr>
              <a:t>Portability:</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mobile application shall support Android devices running Android 10 (API level 29) or later.</a:t>
            </a:r>
            <a:endParaRPr lang="en-US" sz="1700" dirty="0"/>
          </a:p>
          <a:p>
            <a:pPr lvl="1" marL="457200" indent="-228600">
              <a:spcAft>
                <a:spcPts val="1000"/>
              </a:spcAft>
              <a:buSzPct val="100000"/>
              <a:buChar char="–"/>
            </a:pPr>
            <a:r>
              <a:rPr lang="en-US" sz="1400" dirty="0">
                <a:solidFill>
                  <a:srgbClr val="000000"/>
                </a:solidFill>
                <a:latin typeface="Times New Roman" pitchFamily="34" charset="0"/>
                <a:ea typeface="Times New Roman" pitchFamily="34" charset="-122"/>
                <a:cs typeface="Times New Roman" pitchFamily="34" charset="-120"/>
              </a:rPr>
              <a:t>The physiotherapist web dashboard shall be compatible with the latest versions of Google Chrome and Microsoft Edge.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icon_diagram.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Use Case Diagram</a:t>
            </a:r>
            <a:endParaRPr lang="en-US" sz="2600" dirty="0"/>
          </a:p>
        </p:txBody>
      </p:sp>
      <p:pic>
        <p:nvPicPr>
          <p:cNvPr id="4" name="Image 1" descr="usecase_diagram.png">    </p:cNvPr>
          <p:cNvPicPr>
            <a:picLocks noChangeAspect="1"/>
          </p:cNvPicPr>
          <p:nvPr/>
        </p:nvPicPr>
        <p:blipFill>
          <a:blip r:embed="rId2"/>
          <a:stretch>
            <a:fillRect/>
          </a:stretch>
        </p:blipFill>
        <p:spPr>
          <a:xfrm>
            <a:off x="2114811" y="1211580"/>
            <a:ext cx="4914378" cy="5029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icon_diagram.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Class Diagram</a:t>
            </a:r>
            <a:endParaRPr lang="en-US" sz="2600" dirty="0"/>
          </a:p>
        </p:txBody>
      </p:sp>
      <p:sp>
        <p:nvSpPr>
          <p:cNvPr id="4" name="Shape 1"/>
          <p:cNvSpPr/>
          <p:nvPr/>
        </p:nvSpPr>
        <p:spPr>
          <a:xfrm>
            <a:off x="1097280" y="1463040"/>
            <a:ext cx="6949440" cy="3931920"/>
          </a:xfrm>
          <a:prstGeom prst="rect">
            <a:avLst/>
          </a:prstGeom>
          <a:solidFill>
            <a:srgbClr val="F2F2F2"/>
          </a:solidFill>
          <a:ln w="12700">
            <a:solidFill>
              <a:srgbClr val="BFBFBF"/>
            </a:solidFill>
            <a:prstDash val="dash"/>
          </a:ln>
        </p:spPr>
      </p:sp>
      <p:sp>
        <p:nvSpPr>
          <p:cNvPr id="5" name="Text 2"/>
          <p:cNvSpPr txBox="1"/>
          <p:nvPr/>
        </p:nvSpPr>
        <p:spPr>
          <a:xfrm>
            <a:off x="1280160" y="3017520"/>
            <a:ext cx="6583680" cy="914400"/>
          </a:xfrm>
          <a:prstGeom prst="rect">
            <a:avLst/>
          </a:prstGeom>
          <a:noFill/>
          <a:ln/>
        </p:spPr>
        <p:txBody>
          <a:bodyPr wrap="square" rtlCol="0" anchor="ctr"/>
          <a:lstStyle/>
          <a:p>
            <a:pPr algn="ctr" indent="0" marL="0">
              <a:buNone/>
            </a:pPr>
            <a:r>
              <a:rPr lang="en-US" sz="1600" i="1" dirty="0">
                <a:solidFill>
                  <a:srgbClr val="595959"/>
                </a:solidFill>
                <a:latin typeface="Times New Roman" pitchFamily="34" charset="0"/>
                <a:ea typeface="Times New Roman" pitchFamily="34" charset="-122"/>
                <a:cs typeface="Times New Roman" pitchFamily="34" charset="-120"/>
              </a:rPr>
              <a:t>Insert class diagram here</a:t>
            </a:r>
            <a:endParaRPr lang="en-US" sz="1600" dirty="0"/>
          </a:p>
          <a:p>
            <a:pPr algn="ctr" indent="0" marL="0">
              <a:buNone/>
            </a:pPr>
            <a:r>
              <a:rPr lang="en-US" sz="1600" i="1" dirty="0">
                <a:solidFill>
                  <a:srgbClr val="595959"/>
                </a:solidFill>
                <a:latin typeface="Times New Roman" pitchFamily="34" charset="0"/>
                <a:ea typeface="Times New Roman" pitchFamily="34" charset="-122"/>
                <a:cs typeface="Times New Roman" pitchFamily="34" charset="-120"/>
              </a:rPr>
              <a:t>(finalize once mobile-app integration is complete)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icon_diagram.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ER Diagram</a:t>
            </a:r>
            <a:endParaRPr lang="en-US" sz="2600" dirty="0"/>
          </a:p>
        </p:txBody>
      </p:sp>
      <p:pic>
        <p:nvPicPr>
          <p:cNvPr id="4" name="Image 1" descr="erd_diagram_tb.png">    </p:cNvPr>
          <p:cNvPicPr>
            <a:picLocks noChangeAspect="1"/>
          </p:cNvPicPr>
          <p:nvPr/>
        </p:nvPicPr>
        <p:blipFill>
          <a:blip r:embed="rId2"/>
          <a:stretch>
            <a:fillRect/>
          </a:stretch>
        </p:blipFill>
        <p:spPr>
          <a:xfrm>
            <a:off x="2545073" y="1211580"/>
            <a:ext cx="4053855" cy="50292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icon_diagram.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System Architecture Diagram</a:t>
            </a:r>
            <a:endParaRPr lang="en-US" sz="2600" dirty="0"/>
          </a:p>
        </p:txBody>
      </p:sp>
      <p:pic>
        <p:nvPicPr>
          <p:cNvPr id="4" name="Image 1" descr="architecture_diagram.png">    </p:cNvPr>
          <p:cNvPicPr>
            <a:picLocks noChangeAspect="1"/>
          </p:cNvPicPr>
          <p:nvPr/>
        </p:nvPicPr>
        <p:blipFill>
          <a:blip r:embed="rId2"/>
          <a:stretch>
            <a:fillRect/>
          </a:stretch>
        </p:blipFill>
        <p:spPr>
          <a:xfrm>
            <a:off x="2729980" y="1211580"/>
            <a:ext cx="3684040" cy="50292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icon_schedule.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Schedule</a:t>
            </a:r>
            <a:endParaRPr lang="en-US" sz="2600" dirty="0"/>
          </a:p>
        </p:txBody>
      </p:sp>
      <p:sp>
        <p:nvSpPr>
          <p:cNvPr id="4" name="Shape 1"/>
          <p:cNvSpPr/>
          <p:nvPr/>
        </p:nvSpPr>
        <p:spPr>
          <a:xfrm>
            <a:off x="594360" y="2377440"/>
            <a:ext cx="1234440" cy="1371600"/>
          </a:xfrm>
          <a:prstGeom prst="roundRect">
            <a:avLst>
              <a:gd name="adj" fmla="val 5926"/>
            </a:avLst>
          </a:prstGeom>
          <a:solidFill>
            <a:srgbClr val="92D050"/>
          </a:solidFill>
          <a:ln w="9525">
            <a:solidFill>
              <a:srgbClr val="808080"/>
            </a:solidFill>
            <a:prstDash val="solid"/>
          </a:ln>
        </p:spPr>
      </p:sp>
      <p:sp>
        <p:nvSpPr>
          <p:cNvPr id="5" name="Text 2"/>
          <p:cNvSpPr txBox="1"/>
          <p:nvPr/>
        </p:nvSpPr>
        <p:spPr>
          <a:xfrm>
            <a:off x="594360" y="2468880"/>
            <a:ext cx="12344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30%</a:t>
            </a:r>
            <a:endParaRPr lang="en-US" sz="1600" dirty="0"/>
          </a:p>
        </p:txBody>
      </p:sp>
      <p:sp>
        <p:nvSpPr>
          <p:cNvPr id="6" name="Text 3"/>
          <p:cNvSpPr txBox="1"/>
          <p:nvPr/>
        </p:nvSpPr>
        <p:spPr>
          <a:xfrm>
            <a:off x="640080" y="2834640"/>
            <a:ext cx="1143000" cy="822960"/>
          </a:xfrm>
          <a:prstGeom prst="rect">
            <a:avLst/>
          </a:prstGeom>
          <a:noFill/>
          <a:ln/>
        </p:spPr>
        <p:txBody>
          <a:bodyPr wrap="square" lIns="0" tIns="0" rIns="0" bIns="0" rtlCol="0" anchor="t"/>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Completed</a:t>
            </a:r>
            <a:endParaRPr lang="en-US" sz="1000" dirty="0"/>
          </a:p>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10 Dec 2025</a:t>
            </a:r>
            <a:endParaRPr lang="en-US" sz="1000" dirty="0"/>
          </a:p>
        </p:txBody>
      </p:sp>
      <p:sp>
        <p:nvSpPr>
          <p:cNvPr id="7" name="Shape 4"/>
          <p:cNvSpPr/>
          <p:nvPr/>
        </p:nvSpPr>
        <p:spPr>
          <a:xfrm>
            <a:off x="1828800" y="2999232"/>
            <a:ext cx="109728" cy="128016"/>
          </a:xfrm>
          <a:prstGeom prst="rightArrow">
            <a:avLst/>
          </a:prstGeom>
          <a:solidFill>
            <a:srgbClr val="808080"/>
          </a:solidFill>
          <a:ln/>
        </p:spPr>
      </p:sp>
      <p:sp>
        <p:nvSpPr>
          <p:cNvPr id="8" name="Shape 5"/>
          <p:cNvSpPr/>
          <p:nvPr/>
        </p:nvSpPr>
        <p:spPr>
          <a:xfrm>
            <a:off x="1938528" y="2377440"/>
            <a:ext cx="1234440" cy="1371600"/>
          </a:xfrm>
          <a:prstGeom prst="roundRect">
            <a:avLst>
              <a:gd name="adj" fmla="val 5926"/>
            </a:avLst>
          </a:prstGeom>
          <a:solidFill>
            <a:srgbClr val="FFC000"/>
          </a:solidFill>
          <a:ln w="9525">
            <a:solidFill>
              <a:srgbClr val="808080"/>
            </a:solidFill>
            <a:prstDash val="solid"/>
          </a:ln>
        </p:spPr>
      </p:sp>
      <p:sp>
        <p:nvSpPr>
          <p:cNvPr id="9" name="Text 6"/>
          <p:cNvSpPr txBox="1"/>
          <p:nvPr/>
        </p:nvSpPr>
        <p:spPr>
          <a:xfrm>
            <a:off x="1938528" y="2468880"/>
            <a:ext cx="12344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60%</a:t>
            </a:r>
            <a:endParaRPr lang="en-US" sz="1600" dirty="0"/>
          </a:p>
        </p:txBody>
      </p:sp>
      <p:sp>
        <p:nvSpPr>
          <p:cNvPr id="10" name="Text 7"/>
          <p:cNvSpPr txBox="1"/>
          <p:nvPr/>
        </p:nvSpPr>
        <p:spPr>
          <a:xfrm>
            <a:off x="1984248" y="2834640"/>
            <a:ext cx="1143000" cy="822960"/>
          </a:xfrm>
          <a:prstGeom prst="rect">
            <a:avLst/>
          </a:prstGeom>
          <a:noFill/>
          <a:ln/>
        </p:spPr>
        <p:txBody>
          <a:bodyPr wrap="square" lIns="0" tIns="0" rIns="0" bIns="0" rtlCol="0" anchor="t"/>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This presentation</a:t>
            </a:r>
            <a:endParaRPr lang="en-US" sz="1000" dirty="0"/>
          </a:p>
        </p:txBody>
      </p:sp>
      <p:sp>
        <p:nvSpPr>
          <p:cNvPr id="11" name="Shape 8"/>
          <p:cNvSpPr/>
          <p:nvPr/>
        </p:nvSpPr>
        <p:spPr>
          <a:xfrm>
            <a:off x="3172968" y="2999232"/>
            <a:ext cx="109728" cy="128016"/>
          </a:xfrm>
          <a:prstGeom prst="rightArrow">
            <a:avLst/>
          </a:prstGeom>
          <a:solidFill>
            <a:srgbClr val="808080"/>
          </a:solidFill>
          <a:ln/>
        </p:spPr>
      </p:sp>
      <p:sp>
        <p:nvSpPr>
          <p:cNvPr id="12" name="Shape 9"/>
          <p:cNvSpPr/>
          <p:nvPr/>
        </p:nvSpPr>
        <p:spPr>
          <a:xfrm>
            <a:off x="3282696" y="2377440"/>
            <a:ext cx="1234440" cy="1371600"/>
          </a:xfrm>
          <a:prstGeom prst="roundRect">
            <a:avLst>
              <a:gd name="adj" fmla="val 5926"/>
            </a:avLst>
          </a:prstGeom>
          <a:solidFill>
            <a:srgbClr val="9DC3E6"/>
          </a:solidFill>
          <a:ln w="9525">
            <a:solidFill>
              <a:srgbClr val="808080"/>
            </a:solidFill>
            <a:prstDash val="solid"/>
          </a:ln>
        </p:spPr>
      </p:sp>
      <p:sp>
        <p:nvSpPr>
          <p:cNvPr id="13" name="Text 10"/>
          <p:cNvSpPr txBox="1"/>
          <p:nvPr/>
        </p:nvSpPr>
        <p:spPr>
          <a:xfrm>
            <a:off x="3282696" y="2468880"/>
            <a:ext cx="12344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Week 1</a:t>
            </a:r>
            <a:endParaRPr lang="en-US" sz="1600" dirty="0"/>
          </a:p>
        </p:txBody>
      </p:sp>
      <p:sp>
        <p:nvSpPr>
          <p:cNvPr id="14" name="Text 11"/>
          <p:cNvSpPr txBox="1"/>
          <p:nvPr/>
        </p:nvSpPr>
        <p:spPr>
          <a:xfrm>
            <a:off x="3328416" y="2834640"/>
            <a:ext cx="1143000" cy="822960"/>
          </a:xfrm>
          <a:prstGeom prst="rect">
            <a:avLst/>
          </a:prstGeom>
          <a:noFill/>
          <a:ln/>
        </p:spPr>
        <p:txBody>
          <a:bodyPr wrap="square" lIns="0" tIns="0" rIns="0" bIns="0" rtlCol="0" anchor="t"/>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Digital Twin model +</a:t>
            </a:r>
            <a:endParaRPr lang="en-US" sz="1000" dirty="0"/>
          </a:p>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BLE integration</a:t>
            </a:r>
            <a:endParaRPr lang="en-US" sz="1000" dirty="0"/>
          </a:p>
        </p:txBody>
      </p:sp>
      <p:sp>
        <p:nvSpPr>
          <p:cNvPr id="15" name="Shape 12"/>
          <p:cNvSpPr/>
          <p:nvPr/>
        </p:nvSpPr>
        <p:spPr>
          <a:xfrm>
            <a:off x="4517136" y="2999232"/>
            <a:ext cx="109728" cy="128016"/>
          </a:xfrm>
          <a:prstGeom prst="rightArrow">
            <a:avLst/>
          </a:prstGeom>
          <a:solidFill>
            <a:srgbClr val="808080"/>
          </a:solidFill>
          <a:ln/>
        </p:spPr>
      </p:sp>
      <p:sp>
        <p:nvSpPr>
          <p:cNvPr id="16" name="Shape 13"/>
          <p:cNvSpPr/>
          <p:nvPr/>
        </p:nvSpPr>
        <p:spPr>
          <a:xfrm>
            <a:off x="4626864" y="2377440"/>
            <a:ext cx="1234440" cy="1371600"/>
          </a:xfrm>
          <a:prstGeom prst="roundRect">
            <a:avLst>
              <a:gd name="adj" fmla="val 5926"/>
            </a:avLst>
          </a:prstGeom>
          <a:solidFill>
            <a:srgbClr val="9DC3E6"/>
          </a:solidFill>
          <a:ln w="9525">
            <a:solidFill>
              <a:srgbClr val="808080"/>
            </a:solidFill>
            <a:prstDash val="solid"/>
          </a:ln>
        </p:spPr>
      </p:sp>
      <p:sp>
        <p:nvSpPr>
          <p:cNvPr id="17" name="Text 14"/>
          <p:cNvSpPr txBox="1"/>
          <p:nvPr/>
        </p:nvSpPr>
        <p:spPr>
          <a:xfrm>
            <a:off x="4626864" y="2468880"/>
            <a:ext cx="12344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Week 2</a:t>
            </a:r>
            <a:endParaRPr lang="en-US" sz="1600" dirty="0"/>
          </a:p>
        </p:txBody>
      </p:sp>
      <p:sp>
        <p:nvSpPr>
          <p:cNvPr id="18" name="Text 15"/>
          <p:cNvSpPr txBox="1"/>
          <p:nvPr/>
        </p:nvSpPr>
        <p:spPr>
          <a:xfrm>
            <a:off x="4672584" y="2834640"/>
            <a:ext cx="1143000" cy="822960"/>
          </a:xfrm>
          <a:prstGeom prst="rect">
            <a:avLst/>
          </a:prstGeom>
          <a:noFill/>
          <a:ln/>
        </p:spPr>
        <p:txBody>
          <a:bodyPr wrap="square" lIns="0" tIns="0" rIns="0" bIns="0" rtlCol="0" anchor="t"/>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Integration crunch:</a:t>
            </a:r>
            <a:endParaRPr lang="en-US" sz="1000" dirty="0"/>
          </a:p>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full session loop</a:t>
            </a:r>
            <a:endParaRPr lang="en-US" sz="1000" dirty="0"/>
          </a:p>
        </p:txBody>
      </p:sp>
      <p:sp>
        <p:nvSpPr>
          <p:cNvPr id="19" name="Shape 16"/>
          <p:cNvSpPr/>
          <p:nvPr/>
        </p:nvSpPr>
        <p:spPr>
          <a:xfrm>
            <a:off x="5861304" y="2999232"/>
            <a:ext cx="109728" cy="128016"/>
          </a:xfrm>
          <a:prstGeom prst="rightArrow">
            <a:avLst/>
          </a:prstGeom>
          <a:solidFill>
            <a:srgbClr val="808080"/>
          </a:solidFill>
          <a:ln/>
        </p:spPr>
      </p:sp>
      <p:sp>
        <p:nvSpPr>
          <p:cNvPr id="20" name="Shape 17"/>
          <p:cNvSpPr/>
          <p:nvPr/>
        </p:nvSpPr>
        <p:spPr>
          <a:xfrm>
            <a:off x="5971032" y="2377440"/>
            <a:ext cx="1234440" cy="1371600"/>
          </a:xfrm>
          <a:prstGeom prst="roundRect">
            <a:avLst>
              <a:gd name="adj" fmla="val 5926"/>
            </a:avLst>
          </a:prstGeom>
          <a:solidFill>
            <a:srgbClr val="9DC3E6"/>
          </a:solidFill>
          <a:ln w="9525">
            <a:solidFill>
              <a:srgbClr val="808080"/>
            </a:solidFill>
            <a:prstDash val="solid"/>
          </a:ln>
        </p:spPr>
      </p:sp>
      <p:sp>
        <p:nvSpPr>
          <p:cNvPr id="21" name="Text 18"/>
          <p:cNvSpPr txBox="1"/>
          <p:nvPr/>
        </p:nvSpPr>
        <p:spPr>
          <a:xfrm>
            <a:off x="5971032" y="2468880"/>
            <a:ext cx="12344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Week 3</a:t>
            </a:r>
            <a:endParaRPr lang="en-US" sz="1600" dirty="0"/>
          </a:p>
        </p:txBody>
      </p:sp>
      <p:sp>
        <p:nvSpPr>
          <p:cNvPr id="22" name="Text 19"/>
          <p:cNvSpPr txBox="1"/>
          <p:nvPr/>
        </p:nvSpPr>
        <p:spPr>
          <a:xfrm>
            <a:off x="6016752" y="2834640"/>
            <a:ext cx="1143000" cy="822960"/>
          </a:xfrm>
          <a:prstGeom prst="rect">
            <a:avLst/>
          </a:prstGeom>
          <a:noFill/>
          <a:ln/>
        </p:spPr>
        <p:txBody>
          <a:bodyPr wrap="square" lIns="0" tIns="0" rIns="0" bIns="0" rtlCol="0" anchor="t"/>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Stabilize, document,</a:t>
            </a:r>
            <a:endParaRPr lang="en-US" sz="1000" dirty="0"/>
          </a:p>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rehearse</a:t>
            </a:r>
            <a:endParaRPr lang="en-US" sz="1000" dirty="0"/>
          </a:p>
        </p:txBody>
      </p:sp>
      <p:sp>
        <p:nvSpPr>
          <p:cNvPr id="23" name="Shape 20"/>
          <p:cNvSpPr/>
          <p:nvPr/>
        </p:nvSpPr>
        <p:spPr>
          <a:xfrm>
            <a:off x="7205472" y="2999232"/>
            <a:ext cx="109728" cy="128016"/>
          </a:xfrm>
          <a:prstGeom prst="rightArrow">
            <a:avLst/>
          </a:prstGeom>
          <a:solidFill>
            <a:srgbClr val="808080"/>
          </a:solidFill>
          <a:ln/>
        </p:spPr>
      </p:sp>
      <p:sp>
        <p:nvSpPr>
          <p:cNvPr id="24" name="Shape 21"/>
          <p:cNvSpPr/>
          <p:nvPr/>
        </p:nvSpPr>
        <p:spPr>
          <a:xfrm>
            <a:off x="7315200" y="2377440"/>
            <a:ext cx="1234440" cy="1371600"/>
          </a:xfrm>
          <a:prstGeom prst="roundRect">
            <a:avLst>
              <a:gd name="adj" fmla="val 5926"/>
            </a:avLst>
          </a:prstGeom>
          <a:solidFill>
            <a:srgbClr val="D9D9D9"/>
          </a:solidFill>
          <a:ln w="9525">
            <a:solidFill>
              <a:srgbClr val="808080"/>
            </a:solidFill>
            <a:prstDash val="solid"/>
          </a:ln>
        </p:spPr>
      </p:sp>
      <p:sp>
        <p:nvSpPr>
          <p:cNvPr id="25" name="Text 22"/>
          <p:cNvSpPr txBox="1"/>
          <p:nvPr/>
        </p:nvSpPr>
        <p:spPr>
          <a:xfrm>
            <a:off x="7315200" y="2468880"/>
            <a:ext cx="123444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Arial" pitchFamily="34" charset="0"/>
                <a:ea typeface="Arial" pitchFamily="34" charset="-122"/>
                <a:cs typeface="Arial" pitchFamily="34" charset="-120"/>
              </a:rPr>
              <a:t>100%</a:t>
            </a:r>
            <a:endParaRPr lang="en-US" sz="1600" dirty="0"/>
          </a:p>
        </p:txBody>
      </p:sp>
      <p:sp>
        <p:nvSpPr>
          <p:cNvPr id="26" name="Text 23"/>
          <p:cNvSpPr txBox="1"/>
          <p:nvPr/>
        </p:nvSpPr>
        <p:spPr>
          <a:xfrm>
            <a:off x="7360920" y="2834640"/>
            <a:ext cx="1143000" cy="822960"/>
          </a:xfrm>
          <a:prstGeom prst="rect">
            <a:avLst/>
          </a:prstGeom>
          <a:noFill/>
          <a:ln/>
        </p:spPr>
        <p:txBody>
          <a:bodyPr wrap="square" lIns="0" tIns="0" rIns="0" bIns="0" rtlCol="0" anchor="t"/>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Final submission</a:t>
            </a:r>
            <a:endParaRPr lang="en-US" sz="1000" dirty="0"/>
          </a:p>
        </p:txBody>
      </p:sp>
      <p:sp>
        <p:nvSpPr>
          <p:cNvPr id="27" name="Text 24"/>
          <p:cNvSpPr txBox="1"/>
          <p:nvPr/>
        </p:nvSpPr>
        <p:spPr>
          <a:xfrm>
            <a:off x="457200" y="4206240"/>
            <a:ext cx="8229600" cy="548640"/>
          </a:xfrm>
          <a:prstGeom prst="rect">
            <a:avLst/>
          </a:prstGeom>
          <a:noFill/>
          <a:ln/>
        </p:spPr>
        <p:txBody>
          <a:bodyPr wrap="square" rtlCol="0" anchor="ctr"/>
          <a:lstStyle/>
          <a:p>
            <a:pPr algn="ctr" indent="0" marL="0">
              <a:buNone/>
            </a:pPr>
            <a:r>
              <a:rPr lang="en-US" sz="1200" i="1" dirty="0">
                <a:solidFill>
                  <a:srgbClr val="595959"/>
                </a:solidFill>
                <a:latin typeface="Times New Roman" pitchFamily="34" charset="0"/>
                <a:ea typeface="Times New Roman" pitchFamily="34" charset="-122"/>
                <a:cs typeface="Times New Roman" pitchFamily="34" charset="-120"/>
              </a:rPr>
              <a:t>Remaining schedule to 100% is shown as a 3-week execution plan from today, since the original Gantt's 60%/100% dates have already elapsed.</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icon_iteration.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Details of 1st Iteration (30%)</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4754880"/>
                <a:gridCol w="182880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Category</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Completed Tasks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Status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Requirements Phase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Requirements Analysis &amp; Review, SRS Document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Completed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2D050"/>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Design Phase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System Architecture Design, SDD (Design Document)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Completed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2D050"/>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Development Setup</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Flutter + Supabase environment setup</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Completed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2D050"/>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Module Development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1. Authentication  2. Patient/Physio/Clinic UI  3. Wearable hardware prototype (ESP32 + IMU + EMG)</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Completed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2D050"/>
                    </a:solidFill>
                  </a:tcPr>
                </a:tc>
              </a:tr>
              <a:tr h="0">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Milestone Deliverable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30% Report + Presentation (10 Dec 2025)</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Completed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2D050"/>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icon_iteration.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Details of 2nd Iteration (60%)</a:t>
            </a:r>
            <a:endParaRPr lang="en-US" sz="2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4754880"/>
                <a:gridCol w="182880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Category</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Task</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Status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Hardware</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Wearable IMU + EMG prototype validated on breadboard — readings are clean enough to drive the Digital Twin live</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In Progress</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Backend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Supabase schema extended for devices, sensor data, movement analysis, alerts, and versioned plans</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Completed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2D050"/>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Web Dashboard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Physiotherapist and clinic administrator dashboards, working against real data</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Completed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2D050"/>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Mobile App</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Core UI, navigation, and auth built; live BLE streaming not yet wired in</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In Progress</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Digital Twin</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3D limb model acquisition and live sensor binding</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Not Started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Movement / Fatigue Engine</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Rule-based evaluation against physiotherapist-defined thresholds (ML model deferred — no labelled dataset yet)</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Not Started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Milestone Deliverable</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60% Report + Presentation</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This presentation</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C000"/>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icon_iteration.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Details of 3rd Iteration (100%)</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4754880"/>
                <a:gridCol w="1828800"/>
              </a:tblGrid>
              <a:tr h="0">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Category</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Planned Task</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c>
                  <a:txBody>
                    <a:bodyPr/>
                    <a:lstStyle/>
                    <a:p>
                      <a:pPr algn="l" indent="0" marL="0">
                        <a:buNone/>
                      </a:pPr>
                      <a:r>
                        <a:rPr lang="en-US" sz="1200" b="1" dirty="0">
                          <a:solidFill>
                            <a:srgbClr val="000000"/>
                          </a:solidFill>
                          <a:latin typeface="Times New Roman" pitchFamily="34" charset="0"/>
                          <a:ea typeface="Times New Roman" pitchFamily="34" charset="-122"/>
                          <a:cs typeface="Times New Roman" pitchFamily="34" charset="-120"/>
                        </a:rPr>
                        <a:t>Status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E7E6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Digital Twin</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Acquire rigged 3D limb model; bind live joint-angle stream to it inside the app</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Planned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Mobile App</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Wire real BLE connectivity; complete calibration, session, and feedback flow end-to-end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Planned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Movement / Fatigue Engine</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Ship rule-based thresholds as the primary path; revisit trained models only with spare time</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Planned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Hardware</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Move off breadboard into an enclosure/strap; soak-test for reliability</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Planned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Web Portal</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Close remaining gaps; connect to live session and alert data as the app produces it</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Planned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Documentation</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Finalize report against the approved template; reconcile with SRS/SDD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Planned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r h="0">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Milestone Deliverable</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100% Report + Final Presentation</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Planned</a:t>
                      </a:r>
                      <a:endParaRPr lang="en-US" sz="1050" dirty="0">
                        <a:latin typeface="Times New Roman" charset="0"/>
                        <a:ea typeface="Times New Roman" charset="0"/>
                        <a:cs typeface="Times New Roman" charset="0"/>
                      </a:endParaRPr>
                    </a:p>
                  </a:txBody>
                  <a:tcPr marL="91440" marR="91440" marT="45720" marB="45720"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9DC3E6"/>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icon_conclusion.png">    </p:cNvPr>
          <p:cNvPicPr>
            <a:picLocks noChangeAspect="1"/>
          </p:cNvPicPr>
          <p:nvPr/>
        </p:nvPicPr>
        <p:blipFill>
          <a:blip r:embed="rId1"/>
          <a:stretch>
            <a:fillRect/>
          </a:stretch>
        </p:blipFill>
        <p:spPr>
          <a:xfrm>
            <a:off x="457200" y="292608"/>
            <a:ext cx="411480" cy="411480"/>
          </a:xfrm>
          <a:prstGeom prst="rect">
            <a:avLst/>
          </a:prstGeom>
        </p:spPr>
      </p:pic>
      <p:sp>
        <p:nvSpPr>
          <p:cNvPr id="3" name="Text 0"/>
          <p:cNvSpPr txBox="1"/>
          <p:nvPr/>
        </p:nvSpPr>
        <p:spPr>
          <a:xfrm>
            <a:off x="1005840" y="256032"/>
            <a:ext cx="7680960" cy="502920"/>
          </a:xfrm>
          <a:prstGeom prst="rect">
            <a:avLst/>
          </a:prstGeom>
          <a:noFill/>
          <a:ln/>
        </p:spPr>
        <p:txBody>
          <a:bodyPr wrap="square" lIns="0" tIns="0" rIns="0" bIns="0" rtlCol="0" anchor="ctr"/>
          <a:lstStyle/>
          <a:p>
            <a:pPr algn="l" indent="0" marL="0">
              <a:buNone/>
            </a:pPr>
            <a:r>
              <a:rPr lang="en-US" sz="2600" b="1" dirty="0">
                <a:solidFill>
                  <a:srgbClr val="000000"/>
                </a:solidFill>
                <a:latin typeface="Arial" pitchFamily="34" charset="0"/>
                <a:ea typeface="Arial" pitchFamily="34" charset="-122"/>
                <a:cs typeface="Arial" pitchFamily="34" charset="-120"/>
              </a:rPr>
              <a:t>Conclusion</a:t>
            </a:r>
            <a:endParaRPr lang="en-US" sz="2600" dirty="0"/>
          </a:p>
        </p:txBody>
      </p:sp>
      <p:sp>
        <p:nvSpPr>
          <p:cNvPr id="4" name="Text 1"/>
          <p:cNvSpPr txBox="1"/>
          <p:nvPr/>
        </p:nvSpPr>
        <p:spPr>
          <a:xfrm>
            <a:off x="457200" y="1051560"/>
            <a:ext cx="8229600" cy="5349240"/>
          </a:xfrm>
          <a:prstGeom prst="rect">
            <a:avLst/>
          </a:prstGeom>
          <a:noFill/>
          <a:ln/>
        </p:spPr>
        <p:txBody>
          <a:bodyPr wrap="square" lIns="0" tIns="0" rIns="0" bIns="0" rtlCol="0" anchor="t"/>
          <a:lstStyle/>
          <a:p>
            <a:pPr marL="342900" indent="-342900">
              <a:spcAft>
                <a:spcPts val="16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Inteli-Rehab pairs wearable IMU/EMG sensing with a real-time 3D Digital Twin to make home rehabilitation exercise objective, not self-reported</a:t>
            </a:r>
            <a:endParaRPr lang="en-US" sz="1600" dirty="0"/>
          </a:p>
          <a:p>
            <a:pPr marL="342900" indent="-342900">
              <a:spcAft>
                <a:spcPts val="16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A layered edge-cloud architecture keeps live feedback on-device while syncing clinical data to physiotherapists</a:t>
            </a:r>
            <a:endParaRPr lang="en-US" sz="1600" dirty="0"/>
          </a:p>
          <a:p>
            <a:pPr marL="342900" indent="-342900">
              <a:spcAft>
                <a:spcPts val="16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Role-secured Supabase backend connects patient, physiotherapist, and clinic workflows in one system</a:t>
            </a:r>
            <a:endParaRPr lang="en-US" sz="1600" dirty="0"/>
          </a:p>
          <a:p>
            <a:pPr marL="342900" indent="-342900">
              <a:spcAft>
                <a:spcPts val="1600"/>
              </a:spcAft>
              <a:buSzPct val="100000"/>
              <a:buChar char="•"/>
            </a:pPr>
            <a:r>
              <a:rPr lang="en-US" sz="1600" dirty="0">
                <a:solidFill>
                  <a:srgbClr val="000000"/>
                </a:solidFill>
                <a:latin typeface="Times New Roman" pitchFamily="34" charset="0"/>
                <a:ea typeface="Times New Roman" pitchFamily="34" charset="-122"/>
                <a:cs typeface="Times New Roman" pitchFamily="34" charset="-120"/>
              </a:rPr>
              <a:t>Remaining work for 100%: Digital Twin integration, live BLE + rule-based feedback in the app, and hardware packaging</a:t>
            </a:r>
            <a:endParaRPr lang="en-US" sz="1600" dirty="0"/>
          </a:p>
        </p:txBody>
      </p:sp>
      <p:sp>
        <p:nvSpPr>
          <p:cNvPr id="5" name="Text 2"/>
          <p:cNvSpPr txBox="1"/>
          <p:nvPr/>
        </p:nvSpPr>
        <p:spPr>
          <a:xfrm>
            <a:off x="0" y="5760720"/>
            <a:ext cx="9144000" cy="548640"/>
          </a:xfrm>
          <a:prstGeom prst="rect">
            <a:avLst/>
          </a:prstGeom>
          <a:noFill/>
          <a:ln/>
        </p:spPr>
        <p:txBody>
          <a:bodyPr wrap="square" rtlCol="0" anchor="ctr"/>
          <a:lstStyle/>
          <a:p>
            <a:pPr algn="ctr" indent="0" marL="0">
              <a:buNone/>
            </a:pPr>
            <a:r>
              <a:rPr lang="en-US" sz="2200" b="1" dirty="0">
                <a:solidFill>
                  <a:srgbClr val="000000"/>
                </a:solidFill>
                <a:latin typeface="Arial" pitchFamily="34" charset="0"/>
                <a:ea typeface="Arial" pitchFamily="34" charset="-122"/>
                <a:cs typeface="Arial" pitchFamily="34" charset="-120"/>
              </a:rPr>
              <a:t>THANK YOU!</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2026-09-22T16:52:38Z</dcterms:created>
  <dcterms:modified xsi:type="dcterms:W3CDTF">2026-09-22T16:52:38Z</dcterms:modified>
</cp:coreProperties>
</file>